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respected panel members, scientists, engineers, and mentors. My name is Dhruv Rathore, and I am a third-year Computer Science and Engineering student from KIIT University. During my summer training at ISTRAC, Lucknow, ISRO, under the guidance of Shri Anant Madhukar, I worked on a project titled 'Universal Real-Time Infrastructure Monitoring and Observability Platform.' The project focused on building a distributed monitoring system inspired by tools such as Zabbix, Nagios, Grafana, and Datadog Infrastructure Monitoring.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ISTRAC plays a central role in ISRO's mission support activities by providing tracking, telemetry, and command services. These operations depend on distributed technical infrastructure such as servers, network devices, applications, and communication systems. In such environments, infrastructure visibility is important because small faults can affect larger operational workflows. This project was aligned with that need by exploring how a unified monitoring platform can provide real-time visibility into system health.</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problem addressed in this project is the lack of a single monitoring interface for heterogeneous infrastructure. In technical environments, different hosts may run Windows, Linux, containers, databases, and network services. If each is checked separately, engineers lose time correlating information. A monitoring platform must collect metrics continuously, evaluate thresholds, and present a common operational view.</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objective was to build a working full-stack monitoring platform from scratch. The system collects CPU, memory, disk, network, process, service, and uptime metrics from monitored machines. These metrics pass through a Kafka-based processing pipeline and are stored in PostgreSQL and ClickHouse. The dashboard provides live host status, metric charts, alert rules, and problem management.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internship progressed in two phases. During the first three weeks, I built a universal real-time event ingestion platform inspired by Splunk and Elasticsearch. This established the core distributed architecture: ingestion, Kafka, processing, storage, authentication, WebSocket delivery, and dashboarding. In the final three weeks, the system evolved into an infrastructure monitoring platform with agents, metrics, alert rules, problems, and a Zabbix-style interface.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Phase 1 was not discarded. It formed the technical base for the final system. It proved that the architecture could ingest data, process it asynchronously, persist it, and stream updates to the browser in real time. The format-agnostic parser was important because it handled multiple data formats without prior schema knowledge. This experience helped define the later monitoring data pipeline.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pivot from log analytics to infrastructure monitoring was an engineering decision based on the project's operational relevance. Phase 1 validated the pipeline, but monitoring required a more structured model around hosts, metrics, services, and alert rules. Instead of treating the pivot as a restart, I treated it as an architectural evolution. The same concepts of ingestion, processing, storage, and real-time delivery were adapted to monitoring.</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final architecture. The monitoring agent runs on each monitored machine and sends heartbeats every 10 seconds and full metric check-ins every 30 seconds. The Agent API validates the agent key and publishes the payload to Kafka. The Metrics Processor stores data, evaluates alerts, updates host status, and publishes live events through Redis. The WebSocket Gateway then delivers updates to the browser dashboard.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technology was selected for a specific role. PostgreSQL stores relational data such as users, hosts, sessions, alert rules, and problems. ClickHouse stores high-volume time-series metric readings. Kafka decouples agent ingestion from processing, while Redis provides low-latency pub/sub for dashboard updates. Next.js and Recharts were used to build a professional monitoring dashboard.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backend is split into focused services. Agent API handles external agent traffic. Auth API serves the dashboard and manages authentication. Metrics Processor runs as a Kafka consumer and performs storage and alert evaluation. WebSocket Gateway handles real-time delivery. The monitoring agent runs on the monitored machine and has no npm dependencies.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database design uses two stores because monitoring data has two different access patterns. PostgreSQL is used for structured operational state, including users, hosts, alert rules, problems, and services. Metric readings are also stored in PostgreSQL for recent access and partitioned monthly. ClickHouse is used for analytical time-series queries and rollups, which are better suited to historical charts and reports.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monitoring agent is one of the most important components of the project. It was written in plain JavaScript using only built-in Node.js modules such as os, fs, http, https, child_process, and net. CPU usage is calculated by sampling CPU times twice with a short gap. Disk and network collection differ between Windows and Linux, so the agent uses platform-specific commands and parsing logic.</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alert engine follows a trigger model similar to Zabbix. Each metric is compared against enabled alert rules. If a threshold is breached and no active problem exists, a new problem is opened. If the same problem already exists, its value and severity can be updated. When the metric returns to normal, the problem is automatically resolved. Users can also acknowledge active problems.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Real-time delivery is handled through a chain of asynchronous components. The agent does not communicate directly with the dashboard. It sends data to Agent API, which publishes to Kafka. Metrics Processor consumes the message and publishes live events to Redis. WebSocket Gateway subscribes to Redis and emits updates to browser rooms. During validation, updates reached the dashboard in under two seconds.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dashboard was redesigned as an enterprise monitoring console rather than a decorative web page. A light theme was selected because tools used in operations environments usually prefer readability and dense tables. The overview page shows host health, active problems, and live updates. Host detail pages show gauges, service status, historical charts, and problem history.</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will now move to the live demonstration. The demo will show the monitoring agent running locally, sending metric check-ins to the backend pipeline. Then I will show the dashboard updating with live host metrics. Finally, I will demonstrate the alert workflow by showing a problem being created and then acknowledged or resolved.</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represents what the monitoring agent sends to the backend. The actual payload contains CPU, memory, disk, network, load average, uptime, process count, and service checks. The agent sends heartbeats more frequently than full metric payloads so the platform can detect stale or offline hosts. If the backend is unavailable, the agent retries using exponential backoff.</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During the dashboard demo, the important point is that updates are pushed from the backend rather than pulled manually by the user. The WebSocket connection receives metric updates and host status changes. When an alert rule is breached, the problem list updates. Historical charts are loaded through REST APIs, while live readings arrive through WebSocket events.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major achievement is simultaneous multi-host monitoring. Each host has its own agent key and sends its own metric stream. The backend maps the agent key to a host record and tenant. This allows the dashboard to show all hosts together while still preserving host-specific metrics, problems, services, and history.</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second major achievement is alert automation. I validated that when a metric crosses a configured threshold, the alert engine creates a problem record. The dashboard shows this as an active problem. If the metric returns to a normal value, the engine resolves the problem automatically. This closely follows the operational workflow used in monitoring systems.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Several practical engineering issues appeared during implementation. ClickHouse client integration required attention because of module compatibility with CommonJS TypeScript. Kafka topic creation also needed to be handled safely because restarts can leave state in Zookeeper. The monitoring agent required separate collection logic for Windows and Linux, especially for disk and network metrics.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summarizes important design decisions. Kafka was used to separate agent ingestion from processing, which prevents slow database writes from blocking agent requests. ClickHouse was added because time-series analytics have different performance needs than relational state. Fastify was used for REST APIs, and Redis PubSub was selected for live delivery instead of polling the database.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project produced a working prototype with validated end-to-end behavior. The agent collects and sends metrics, Kafka transports them, Metrics Processor stores them, and the dashboard displays them live. Both relational and time-series storage paths were tested. Alert behavior was also validated by breaching and clearing thresholds.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project is not a replacement for Zabbix, which is a mature production tool. The comparison shows that the prototype implements the core monitoring ideas: hosts, agents, metrics, alert rules, problems, and charts. Some advanced features such as SNMP monitoring and auto-discovery were kept out of scope because of the internship duration. The purpose was to build and validate the architecture.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limitations are mostly scope decisions. The system was validated functionally and with multiple hosts, but formal load testing at production scale was not performed. The current monitoring model is agent-based. SNMP, email and SMS notifications, Kubernetes deployment, and network auto-discovery are natural extensions but were not implemented within the internship duration.</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roadmap focuses on turning the prototype into a larger operational system. Load testing would establish capacity limits. SNMP would allow agentless network device monitoring. Email and SMS would complete notification channels. Kubernetes deployment would improve deployment flexibility, while auto-discovery would reduce manual host registration.</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project taught me that distributed systems depend heavily on clear contracts between services. I also learned that monitoring systems cannot rely on one database pattern for every workload. Current state, historical metrics, alerts, and live updates each need different handling. The project also showed me how early architectural work can be reused when requirements evolve.</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conclude, this internship project resulted in a working infrastructure monitoring platform built from scratch. It includes a monitoring agent, microservices, Kafka processing, PostgreSQL and ClickHouse storage, alert evaluation, WebSocket live delivery, and a professional dashboard. The work is best understood as a prototype with production-grade architectural patterns. Thank you for your time. I will be happy to answer your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F1D"/>
          </a:solidFill>
          <a:ln>
            <a:solidFill>
              <a:srgbClr val="0A0F1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097280"/>
            <a:ext cx="10545775" cy="2011680"/>
          </a:xfrm>
          <a:prstGeom prst="rect">
            <a:avLst/>
          </a:prstGeom>
          <a:noFill/>
        </p:spPr>
        <p:txBody>
          <a:bodyPr wrap="square" lIns="0" tIns="0" rIns="0" bIns="0">
            <a:spAutoFit/>
          </a:bodyPr>
          <a:lstStyle/>
          <a:p>
            <a:pPr>
              <a:defRPr sz="4000" b="1">
                <a:solidFill>
                  <a:srgbClr val="FFFFFF"/>
                </a:solidFill>
                <a:latin typeface="Arial"/>
              </a:defRPr>
            </a:pPr>
            <a:r>
              <a:t>Universal Real-Time Infrastructure Monitoring</a:t>
            </a:r>
            <a:br/>
            <a:r>
              <a:t>and Observability Platform</a:t>
            </a:r>
          </a:p>
          <a:p>
            <a:pPr>
              <a:spcBef>
                <a:spcPts val="1400"/>
              </a:spcBef>
              <a:defRPr sz="1800">
                <a:solidFill>
                  <a:srgbClr val="94A3B8"/>
                </a:solidFill>
                <a:latin typeface="Arial"/>
              </a:defRPr>
            </a:pPr>
            <a:r>
              <a:t>Summer Internship Project executed at ISTRAC, Lucknow, ISRO</a:t>
            </a:r>
          </a:p>
        </p:txBody>
      </p:sp>
      <p:sp>
        <p:nvSpPr>
          <p:cNvPr id="4" name="TextBox 3"/>
          <p:cNvSpPr txBox="1"/>
          <p:nvPr/>
        </p:nvSpPr>
        <p:spPr>
          <a:xfrm>
            <a:off x="822960" y="3931920"/>
            <a:ext cx="3291840" cy="1645920"/>
          </a:xfrm>
          <a:prstGeom prst="rect">
            <a:avLst/>
          </a:prstGeom>
          <a:noFill/>
        </p:spPr>
        <p:txBody>
          <a:bodyPr wrap="square">
            <a:spAutoFit/>
          </a:bodyPr>
          <a:lstStyle/>
          <a:p>
            <a:pPr>
              <a:defRPr sz="1200" b="1">
                <a:solidFill>
                  <a:srgbClr val="EA580C"/>
                </a:solidFill>
                <a:latin typeface="Arial"/>
              </a:defRPr>
            </a:pPr>
            <a:r>
              <a:t>INTERN CANDIDATE</a:t>
            </a:r>
          </a:p>
          <a:p>
            <a:pPr>
              <a:spcBef>
                <a:spcPts val="600"/>
              </a:spcBef>
              <a:defRPr sz="1400">
                <a:solidFill>
                  <a:srgbClr val="FFFFFF"/>
                </a:solidFill>
                <a:latin typeface="Arial"/>
              </a:defRPr>
            </a:pPr>
            <a:r>
              <a:t>Dhruv Rathore</a:t>
            </a:r>
            <a:br/>
            <a:r>
              <a:t>KIIT University, B.Tech CSE</a:t>
            </a:r>
          </a:p>
        </p:txBody>
      </p:sp>
      <p:sp>
        <p:nvSpPr>
          <p:cNvPr id="5" name="TextBox 4"/>
          <p:cNvSpPr txBox="1"/>
          <p:nvPr/>
        </p:nvSpPr>
        <p:spPr>
          <a:xfrm>
            <a:off x="4389120" y="3931920"/>
            <a:ext cx="3291840" cy="1645920"/>
          </a:xfrm>
          <a:prstGeom prst="rect">
            <a:avLst/>
          </a:prstGeom>
          <a:noFill/>
        </p:spPr>
        <p:txBody>
          <a:bodyPr wrap="square">
            <a:spAutoFit/>
          </a:bodyPr>
          <a:lstStyle/>
          <a:p>
            <a:pPr>
              <a:defRPr sz="1200" b="1">
                <a:solidFill>
                  <a:srgbClr val="EA580C"/>
                </a:solidFill>
                <a:latin typeface="Arial"/>
              </a:defRPr>
            </a:pPr>
            <a:r>
              <a:t>PROJECT GUIDE</a:t>
            </a:r>
          </a:p>
          <a:p>
            <a:pPr>
              <a:spcBef>
                <a:spcPts val="600"/>
              </a:spcBef>
              <a:defRPr sz="1400">
                <a:solidFill>
                  <a:srgbClr val="FFFFFF"/>
                </a:solidFill>
                <a:latin typeface="Arial"/>
              </a:defRPr>
            </a:pPr>
            <a:r>
              <a:t>Shri Anant Madhukar</a:t>
            </a:r>
            <a:br/>
            <a:r>
              <a:t>Scientist / Engineer, ISRO</a:t>
            </a:r>
          </a:p>
        </p:txBody>
      </p:sp>
      <p:sp>
        <p:nvSpPr>
          <p:cNvPr id="6" name="TextBox 5"/>
          <p:cNvSpPr txBox="1"/>
          <p:nvPr/>
        </p:nvSpPr>
        <p:spPr>
          <a:xfrm>
            <a:off x="7955279" y="3931920"/>
            <a:ext cx="3291840" cy="1645920"/>
          </a:xfrm>
          <a:prstGeom prst="rect">
            <a:avLst/>
          </a:prstGeom>
          <a:noFill/>
        </p:spPr>
        <p:txBody>
          <a:bodyPr wrap="square">
            <a:spAutoFit/>
          </a:bodyPr>
          <a:lstStyle/>
          <a:p>
            <a:pPr>
              <a:defRPr sz="1200" b="1">
                <a:solidFill>
                  <a:srgbClr val="EA580C"/>
                </a:solidFill>
                <a:latin typeface="Arial"/>
              </a:defRPr>
            </a:pPr>
            <a:r>
              <a:t>TIMELINE</a:t>
            </a:r>
          </a:p>
          <a:p>
            <a:pPr>
              <a:spcBef>
                <a:spcPts val="600"/>
              </a:spcBef>
              <a:defRPr sz="1400">
                <a:solidFill>
                  <a:srgbClr val="FFFFFF"/>
                </a:solidFill>
                <a:latin typeface="Arial"/>
              </a:defRPr>
            </a:pPr>
            <a:r>
              <a:t>11 May 2026 — 18 June 2026</a:t>
            </a:r>
            <a:br/>
            <a:r>
              <a:t>6-Week Structural Internship</a:t>
            </a:r>
          </a:p>
        </p:txBody>
      </p:sp>
      <p:sp>
        <p:nvSpPr>
          <p:cNvPr id="7" name="TextBox 6"/>
          <p:cNvSpPr txBox="1"/>
          <p:nvPr/>
        </p:nvSpPr>
        <p:spPr>
          <a:xfrm>
            <a:off x="822960" y="6217920"/>
            <a:ext cx="10545775" cy="365760"/>
          </a:xfrm>
          <a:prstGeom prst="rect">
            <a:avLst/>
          </a:prstGeom>
          <a:noFill/>
        </p:spPr>
        <p:txBody>
          <a:bodyPr wrap="none">
            <a:spAutoFit/>
          </a:bodyPr>
          <a:lstStyle/>
          <a:p>
            <a:pPr>
              <a:defRPr sz="1100">
                <a:solidFill>
                  <a:srgbClr val="94A3B8"/>
                </a:solidFill>
                <a:latin typeface="Arial"/>
              </a:defRPr>
            </a:pPr>
            <a:r>
              <a:t>ISRO • ISTRAC LUCKNOW</a:t>
            </a:r>
          </a:p>
          <a:p>
            <a:pPr algn="r">
              <a:defRPr sz="1100">
                <a:solidFill>
                  <a:srgbClr val="94A3B8"/>
                </a:solidFill>
                <a:latin typeface="Arial"/>
              </a:defRPr>
            </a:pPr>
            <a:r>
              <a:t>Slide 1 / 28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457200"/>
            <a:ext cx="10545775" cy="914400"/>
          </a:xfrm>
          <a:prstGeom prst="rect">
            <a:avLst/>
          </a:prstGeom>
          <a:noFill/>
        </p:spPr>
        <p:txBody>
          <a:bodyPr wrap="square" lIns="0" tIns="0" rIns="0" bIns="0">
            <a:spAutoFit/>
          </a:bodyPr>
          <a:lstStyle/>
          <a:p>
            <a:pPr>
              <a:defRPr sz="3200" b="1">
                <a:solidFill>
                  <a:srgbClr val="0F172A"/>
                </a:solidFill>
                <a:latin typeface="Arial"/>
              </a:defRPr>
            </a:pPr>
            <a:r>
              <a:t>About ISTRAC &amp; Operational Scope</a:t>
            </a:r>
          </a:p>
        </p:txBody>
      </p:sp>
      <p:sp>
        <p:nvSpPr>
          <p:cNvPr id="4" name="Rectangle 3"/>
          <p:cNvSpPr/>
          <p:nvPr/>
        </p:nvSpPr>
        <p:spPr>
          <a:xfrm>
            <a:off x="822960" y="1280160"/>
            <a:ext cx="10545775" cy="27432"/>
          </a:xfrm>
          <a:prstGeom prst="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737360"/>
            <a:ext cx="5486400" cy="4114800"/>
          </a:xfrm>
          <a:prstGeom prst="rect">
            <a:avLst/>
          </a:prstGeom>
          <a:noFill/>
        </p:spPr>
        <p:txBody>
          <a:bodyPr wrap="square" lIns="0" tIns="0" rIns="0" bIns="0">
            <a:spAutoFit/>
          </a:bodyPr>
          <a:lstStyle/>
          <a:p>
            <a:pPr>
              <a:spcAft>
                <a:spcPts val="1200"/>
              </a:spcAft>
              <a:defRPr sz="1600">
                <a:solidFill>
                  <a:srgbClr val="475569"/>
                </a:solidFill>
                <a:latin typeface="Arial"/>
              </a:defRPr>
            </a:pPr>
            <a:r>
              <a:t>•  ISTRAC plays an essential role in ISRO mission operations by offering Tracking, Telemetry, and Command (TTC) services.</a:t>
            </a:r>
          </a:p>
          <a:p>
            <a:pPr>
              <a:spcAft>
                <a:spcPts val="1200"/>
              </a:spcAft>
              <a:defRPr sz="1600">
                <a:solidFill>
                  <a:srgbClr val="475569"/>
                </a:solidFill>
                <a:latin typeface="Arial"/>
              </a:defRPr>
            </a:pPr>
            <a:r>
              <a:t>•  Distributed ground control pipelines, payload datastores, and server operations comprise these capabilities.</a:t>
            </a:r>
          </a:p>
          <a:p>
            <a:pPr>
              <a:spcAft>
                <a:spcPts val="1200"/>
              </a:spcAft>
              <a:defRPr sz="1600">
                <a:solidFill>
                  <a:srgbClr val="475569"/>
                </a:solidFill>
                <a:latin typeface="Arial"/>
              </a:defRPr>
            </a:pPr>
            <a:r>
              <a:t>•  Maintaining maximal availability (99.999% uptime) of infrastructure is critical to avoid mission lag or interruption.</a:t>
            </a:r>
          </a:p>
          <a:p>
            <a:pPr>
              <a:spcAft>
                <a:spcPts val="1200"/>
              </a:spcAft>
              <a:defRPr sz="1600">
                <a:solidFill>
                  <a:srgbClr val="475569"/>
                </a:solidFill>
                <a:latin typeface="Arial"/>
              </a:defRPr>
            </a:pPr>
            <a:r>
              <a:t>•  Real-time monitoring helps catch node bottlenecks, daemon crashes, and disk failures before service degradation occurs.</a:t>
            </a:r>
          </a:p>
        </p:txBody>
      </p:sp>
      <p:sp>
        <p:nvSpPr>
          <p:cNvPr id="6" name="Rounded Rectangle 5"/>
          <p:cNvSpPr/>
          <p:nvPr/>
        </p:nvSpPr>
        <p:spPr>
          <a:xfrm>
            <a:off x="6858000" y="1737360"/>
            <a:ext cx="4480560" cy="1097280"/>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400">
                <a:solidFill>
                  <a:srgbClr val="2563EB"/>
                </a:solidFill>
              </a:defRPr>
            </a:pPr>
            <a:r>
              <a:t>TRACKING</a:t>
            </a:r>
          </a:p>
          <a:p>
            <a:pPr>
              <a:spcBef>
                <a:spcPts val="400"/>
              </a:spcBef>
              <a:defRPr sz="1200">
                <a:solidFill>
                  <a:srgbClr val="475569"/>
                </a:solidFill>
              </a:defRPr>
            </a:pPr>
            <a:r>
              <a:t>Antenna path positioning &amp; telemetry polling.</a:t>
            </a:r>
          </a:p>
        </p:txBody>
      </p:sp>
      <p:sp>
        <p:nvSpPr>
          <p:cNvPr id="7" name="Rounded Rectangle 6"/>
          <p:cNvSpPr/>
          <p:nvPr/>
        </p:nvSpPr>
        <p:spPr>
          <a:xfrm>
            <a:off x="6858000" y="3108960"/>
            <a:ext cx="4480560" cy="1097280"/>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400">
                <a:solidFill>
                  <a:srgbClr val="2563EB"/>
                </a:solidFill>
              </a:defRPr>
            </a:pPr>
            <a:r>
              <a:t>TELEMETRY</a:t>
            </a:r>
          </a:p>
          <a:p>
            <a:pPr>
              <a:spcBef>
                <a:spcPts val="400"/>
              </a:spcBef>
              <a:defRPr sz="1200">
                <a:solidFill>
                  <a:srgbClr val="475569"/>
                </a:solidFill>
              </a:defRPr>
            </a:pPr>
            <a:r>
              <a:t>Retrieving data variables from vehicles &amp; satellites.</a:t>
            </a:r>
          </a:p>
        </p:txBody>
      </p:sp>
      <p:sp>
        <p:nvSpPr>
          <p:cNvPr id="8" name="Rounded Rectangle 7"/>
          <p:cNvSpPr/>
          <p:nvPr/>
        </p:nvSpPr>
        <p:spPr>
          <a:xfrm>
            <a:off x="6858000" y="4480560"/>
            <a:ext cx="4480560" cy="1097280"/>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400">
                <a:solidFill>
                  <a:srgbClr val="2563EB"/>
                </a:solidFill>
              </a:defRPr>
            </a:pPr>
            <a:r>
              <a:t>COMMAND</a:t>
            </a:r>
          </a:p>
          <a:p>
            <a:pPr>
              <a:spcBef>
                <a:spcPts val="400"/>
              </a:spcBef>
              <a:defRPr sz="1200">
                <a:solidFill>
                  <a:srgbClr val="475569"/>
                </a:solidFill>
              </a:defRPr>
            </a:pPr>
            <a:r>
              <a:t>Uplinking mission controls securely from ground blocks.</a:t>
            </a:r>
          </a:p>
        </p:txBody>
      </p:sp>
      <p:sp>
        <p:nvSpPr>
          <p:cNvPr id="9" name="TextBox 8"/>
          <p:cNvSpPr txBox="1"/>
          <p:nvPr/>
        </p:nvSpPr>
        <p:spPr>
          <a:xfrm>
            <a:off x="822960" y="6217920"/>
            <a:ext cx="10545775" cy="365760"/>
          </a:xfrm>
          <a:prstGeom prst="rect">
            <a:avLst/>
          </a:prstGeom>
          <a:noFill/>
        </p:spPr>
        <p:txBody>
          <a:bodyPr wrap="none">
            <a:spAutoFit/>
          </a:bodyPr>
          <a:lstStyle/>
          <a:p>
            <a:pPr>
              <a:defRPr sz="1100">
                <a:solidFill>
                  <a:srgbClr val="475569"/>
                </a:solidFill>
                <a:latin typeface="Arial"/>
              </a:defRPr>
            </a:pPr>
            <a:r>
              <a:t>ISRO • ISTRAC LUCKNOW</a:t>
            </a:r>
          </a:p>
          <a:p>
            <a:pPr algn="r">
              <a:defRPr sz="1100">
                <a:solidFill>
                  <a:srgbClr val="475569"/>
                </a:solidFill>
                <a:latin typeface="Arial"/>
              </a:defRPr>
            </a:pPr>
            <a:r>
              <a:t>Slide 2 / 28</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457200"/>
            <a:ext cx="10545775" cy="914400"/>
          </a:xfrm>
          <a:prstGeom prst="rect">
            <a:avLst/>
          </a:prstGeom>
          <a:noFill/>
        </p:spPr>
        <p:txBody>
          <a:bodyPr wrap="square" lIns="0" tIns="0" rIns="0" bIns="0">
            <a:spAutoFit/>
          </a:bodyPr>
          <a:lstStyle/>
          <a:p>
            <a:pPr>
              <a:defRPr sz="3200" b="1">
                <a:solidFill>
                  <a:srgbClr val="0F172A"/>
                </a:solidFill>
                <a:latin typeface="Arial"/>
              </a:defRPr>
            </a:pPr>
            <a:r>
              <a:t>The Infrastructure Monitoring Problem</a:t>
            </a:r>
          </a:p>
        </p:txBody>
      </p:sp>
      <p:sp>
        <p:nvSpPr>
          <p:cNvPr id="4" name="Rectangle 3"/>
          <p:cNvSpPr/>
          <p:nvPr/>
        </p:nvSpPr>
        <p:spPr>
          <a:xfrm>
            <a:off x="822960" y="1280160"/>
            <a:ext cx="10545775" cy="27432"/>
          </a:xfrm>
          <a:prstGeom prst="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737360"/>
            <a:ext cx="5029200" cy="4114800"/>
          </a:xfrm>
          <a:prstGeom prst="rect">
            <a:avLst/>
          </a:prstGeom>
          <a:noFill/>
        </p:spPr>
        <p:txBody>
          <a:bodyPr wrap="square" lIns="0" tIns="0" rIns="0" bIns="0">
            <a:spAutoFit/>
          </a:bodyPr>
          <a:lstStyle/>
          <a:p>
            <a:pPr>
              <a:spcAft>
                <a:spcPts val="1200"/>
              </a:spcAft>
              <a:defRPr sz="1600">
                <a:solidFill>
                  <a:srgbClr val="475569"/>
                </a:solidFill>
                <a:latin typeface="Arial"/>
              </a:defRPr>
            </a:pPr>
            <a:r>
              <a:t>•  Heterogeneous ecosystems consist of mixed Linux kernels, legacy systems, and database daemons, blocking unified operations.</a:t>
            </a:r>
          </a:p>
          <a:p>
            <a:pPr>
              <a:spcAft>
                <a:spcPts val="1200"/>
              </a:spcAft>
              <a:defRPr sz="1600">
                <a:solidFill>
                  <a:srgbClr val="475569"/>
                </a:solidFill>
                <a:latin typeface="Arial"/>
              </a:defRPr>
            </a:pPr>
            <a:r>
              <a:t>•  Information silos restrict observability because engineers must query separate CLI outputs or local journals.</a:t>
            </a:r>
          </a:p>
          <a:p>
            <a:pPr>
              <a:spcAft>
                <a:spcPts val="1200"/>
              </a:spcAft>
              <a:defRPr sz="1600">
                <a:solidFill>
                  <a:srgbClr val="475569"/>
                </a:solidFill>
                <a:latin typeface="Arial"/>
              </a:defRPr>
            </a:pPr>
            <a:r>
              <a:t>•  Manual server audits do not scale when dealing with dozens of active telemetry servers.</a:t>
            </a:r>
          </a:p>
          <a:p>
            <a:pPr>
              <a:spcAft>
                <a:spcPts val="1200"/>
              </a:spcAft>
              <a:defRPr sz="1600">
                <a:solidFill>
                  <a:srgbClr val="475569"/>
                </a:solidFill>
                <a:latin typeface="Arial"/>
              </a:defRPr>
            </a:pPr>
            <a:r>
              <a:t>•  Delayed fault detection raises operational risk during mission-critical telemetry windows.</a:t>
            </a:r>
          </a:p>
        </p:txBody>
      </p:sp>
      <p:sp>
        <p:nvSpPr>
          <p:cNvPr id="6" name="Rectangle 5"/>
          <p:cNvSpPr/>
          <p:nvPr/>
        </p:nvSpPr>
        <p:spPr>
          <a:xfrm>
            <a:off x="6583680" y="1737360"/>
            <a:ext cx="4754880" cy="3840480"/>
          </a:xfrm>
          <a:prstGeom prst="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400">
                <a:solidFill>
                  <a:srgbClr val="0F172A"/>
                </a:solidFill>
              </a:defRPr>
            </a:pPr>
            <a:r>
              <a:t>CURRENT INFRASTRUCTURE SILOS:</a:t>
            </a:r>
          </a:p>
          <a:p>
            <a:pPr>
              <a:spcBef>
                <a:spcPts val="1200"/>
              </a:spcBef>
              <a:defRPr sz="1300">
                <a:solidFill>
                  <a:srgbClr val="475569"/>
                </a:solidFill>
              </a:defRPr>
            </a:pPr>
            <a:r>
              <a:t>• Isolated Windows Servers and VM instances</a:t>
            </a:r>
          </a:p>
          <a:p>
            <a:pPr>
              <a:spcBef>
                <a:spcPts val="1200"/>
              </a:spcBef>
              <a:defRPr sz="1300">
                <a:solidFill>
                  <a:srgbClr val="475569"/>
                </a:solidFill>
              </a:defRPr>
            </a:pPr>
            <a:r>
              <a:t>• Separate container orchestration environments</a:t>
            </a:r>
          </a:p>
          <a:p>
            <a:pPr>
              <a:spcBef>
                <a:spcPts val="1200"/>
              </a:spcBef>
              <a:defRPr sz="1300">
                <a:solidFill>
                  <a:srgbClr val="475569"/>
                </a:solidFill>
              </a:defRPr>
            </a:pPr>
            <a:r>
              <a:t>• No shared threshold mapping engine</a:t>
            </a:r>
          </a:p>
          <a:p>
            <a:pPr>
              <a:spcBef>
                <a:spcPts val="1200"/>
              </a:spcBef>
              <a:defRPr sz="1300">
                <a:solidFill>
                  <a:srgbClr val="475569"/>
                </a:solidFill>
              </a:defRPr>
            </a:pPr>
            <a:r>
              <a:t>• Risk of cascading outages due to slow triage cycles</a:t>
            </a:r>
          </a:p>
        </p:txBody>
      </p:sp>
      <p:sp>
        <p:nvSpPr>
          <p:cNvPr id="7" name="TextBox 6"/>
          <p:cNvSpPr txBox="1"/>
          <p:nvPr/>
        </p:nvSpPr>
        <p:spPr>
          <a:xfrm>
            <a:off x="822960" y="6217920"/>
            <a:ext cx="10545775" cy="365760"/>
          </a:xfrm>
          <a:prstGeom prst="rect">
            <a:avLst/>
          </a:prstGeom>
          <a:noFill/>
        </p:spPr>
        <p:txBody>
          <a:bodyPr wrap="none">
            <a:spAutoFit/>
          </a:bodyPr>
          <a:lstStyle/>
          <a:p>
            <a:pPr>
              <a:defRPr sz="1100">
                <a:solidFill>
                  <a:srgbClr val="475569"/>
                </a:solidFill>
                <a:latin typeface="Arial"/>
              </a:defRPr>
            </a:pPr>
            <a:r>
              <a:t>ISRO • ISTRAC LUCKNOW</a:t>
            </a:r>
          </a:p>
          <a:p>
            <a:pPr algn="r">
              <a:defRPr sz="1100">
                <a:solidFill>
                  <a:srgbClr val="475569"/>
                </a:solidFill>
                <a:latin typeface="Arial"/>
              </a:defRPr>
            </a:pPr>
            <a:r>
              <a:t>Slide 3 / 28</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457200"/>
            <a:ext cx="10545775" cy="914400"/>
          </a:xfrm>
          <a:prstGeom prst="rect">
            <a:avLst/>
          </a:prstGeom>
          <a:noFill/>
        </p:spPr>
        <p:txBody>
          <a:bodyPr wrap="square" lIns="0" tIns="0" rIns="0" bIns="0">
            <a:spAutoFit/>
          </a:bodyPr>
          <a:lstStyle/>
          <a:p>
            <a:pPr>
              <a:defRPr sz="3200" b="1">
                <a:solidFill>
                  <a:srgbClr val="0F172A"/>
                </a:solidFill>
                <a:latin typeface="Arial"/>
              </a:defRPr>
            </a:pPr>
            <a:r>
              <a:t>Project Objectives &amp; Core Deliverables</a:t>
            </a:r>
          </a:p>
        </p:txBody>
      </p:sp>
      <p:sp>
        <p:nvSpPr>
          <p:cNvPr id="4" name="Rectangle 3"/>
          <p:cNvSpPr/>
          <p:nvPr/>
        </p:nvSpPr>
        <p:spPr>
          <a:xfrm>
            <a:off x="822960" y="1280160"/>
            <a:ext cx="10545775" cy="27432"/>
          </a:xfrm>
          <a:prstGeom prst="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22960" y="1737360"/>
            <a:ext cx="4114800" cy="3931920"/>
          </a:xfrm>
          <a:prstGeom prst="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0" b="1">
                <a:solidFill>
                  <a:srgbClr val="2563EB"/>
                </a:solidFill>
              </a:defRPr>
            </a:pPr>
            <a:r>
              <a:t>30s</a:t>
            </a:r>
          </a:p>
          <a:p>
            <a:pPr algn="ctr">
              <a:spcBef>
                <a:spcPts val="1000"/>
              </a:spcBef>
              <a:defRPr sz="1600" b="1">
                <a:solidFill>
                  <a:srgbClr val="0F172A"/>
                </a:solidFill>
              </a:defRPr>
            </a:pPr>
            <a:r>
              <a:t>Target Metric Ingestion Window</a:t>
            </a:r>
          </a:p>
          <a:p>
            <a:pPr algn="ctr">
              <a:spcBef>
                <a:spcPts val="1000"/>
              </a:spcBef>
              <a:defRPr sz="1200">
                <a:solidFill>
                  <a:srgbClr val="475569"/>
                </a:solidFill>
              </a:defRPr>
            </a:pPr>
            <a:r>
              <a:t>Continuous sampling of CPU, RAM, disk allocations, processes, and service states across Windows and Linux hosts.</a:t>
            </a:r>
          </a:p>
        </p:txBody>
      </p:sp>
      <p:sp>
        <p:nvSpPr>
          <p:cNvPr id="6" name="TextBox 5"/>
          <p:cNvSpPr txBox="1"/>
          <p:nvPr/>
        </p:nvSpPr>
        <p:spPr>
          <a:xfrm>
            <a:off x="5486400" y="1737360"/>
            <a:ext cx="5852160" cy="3931920"/>
          </a:xfrm>
          <a:prstGeom prst="rect">
            <a:avLst/>
          </a:prstGeom>
          <a:noFill/>
        </p:spPr>
        <p:txBody>
          <a:bodyPr wrap="square" lIns="0" tIns="0" rIns="0" bIns="0">
            <a:spAutoFit/>
          </a:bodyPr>
          <a:lstStyle/>
          <a:p>
            <a:pPr>
              <a:spcAft>
                <a:spcPts val="1200"/>
              </a:spcAft>
              <a:defRPr sz="1600">
                <a:solidFill>
                  <a:srgbClr val="475569"/>
                </a:solidFill>
                <a:latin typeface="Arial"/>
              </a:defRPr>
            </a:pPr>
            <a:r>
              <a:t>•  Create a Zabbix-style lightweight infrastructure monitoring solution.</a:t>
            </a:r>
          </a:p>
          <a:p>
            <a:pPr>
              <a:spcAft>
                <a:spcPts val="1200"/>
              </a:spcAft>
              <a:defRPr sz="1600">
                <a:solidFill>
                  <a:srgbClr val="475569"/>
                </a:solidFill>
                <a:latin typeface="Arial"/>
              </a:defRPr>
            </a:pPr>
            <a:r>
              <a:t>•  Build a custom host agent with no dependencies to run natively.</a:t>
            </a:r>
          </a:p>
          <a:p>
            <a:pPr>
              <a:spcAft>
                <a:spcPts val="1200"/>
              </a:spcAft>
              <a:defRPr sz="1600">
                <a:solidFill>
                  <a:srgbClr val="475569"/>
                </a:solidFill>
                <a:latin typeface="Arial"/>
              </a:defRPr>
            </a:pPr>
            <a:r>
              <a:t>•  Construct a distributed processing pipeline with Apache Kafka as a buffer queue.</a:t>
            </a:r>
          </a:p>
          <a:p>
            <a:pPr>
              <a:spcAft>
                <a:spcPts val="1200"/>
              </a:spcAft>
              <a:defRPr sz="1600">
                <a:solidFill>
                  <a:srgbClr val="475569"/>
                </a:solidFill>
                <a:latin typeface="Arial"/>
              </a:defRPr>
            </a:pPr>
            <a:r>
              <a:t>•  Deconstruct telemetry storage into a PostgreSQL state store and ClickHouse analytical store.</a:t>
            </a:r>
          </a:p>
          <a:p>
            <a:pPr>
              <a:spcAft>
                <a:spcPts val="1200"/>
              </a:spcAft>
              <a:defRPr sz="1600">
                <a:solidFill>
                  <a:srgbClr val="475569"/>
                </a:solidFill>
                <a:latin typeface="Arial"/>
              </a:defRPr>
            </a:pPr>
            <a:r>
              <a:t>•  Introduce threshold-based alert rules that open, acknowledge, and resolve problems automatically.</a:t>
            </a:r>
          </a:p>
        </p:txBody>
      </p:sp>
      <p:sp>
        <p:nvSpPr>
          <p:cNvPr id="7" name="TextBox 6"/>
          <p:cNvSpPr txBox="1"/>
          <p:nvPr/>
        </p:nvSpPr>
        <p:spPr>
          <a:xfrm>
            <a:off x="822960" y="6217920"/>
            <a:ext cx="10545775" cy="365760"/>
          </a:xfrm>
          <a:prstGeom prst="rect">
            <a:avLst/>
          </a:prstGeom>
          <a:noFill/>
        </p:spPr>
        <p:txBody>
          <a:bodyPr wrap="none">
            <a:spAutoFit/>
          </a:bodyPr>
          <a:lstStyle/>
          <a:p>
            <a:pPr>
              <a:defRPr sz="1100">
                <a:solidFill>
                  <a:srgbClr val="475569"/>
                </a:solidFill>
                <a:latin typeface="Arial"/>
              </a:defRPr>
            </a:pPr>
            <a:r>
              <a:t>ISRO • ISTRAC LUCKNOW</a:t>
            </a:r>
          </a:p>
          <a:p>
            <a:pPr algn="r">
              <a:defRPr sz="1100">
                <a:solidFill>
                  <a:srgbClr val="475569"/>
                </a:solidFill>
                <a:latin typeface="Arial"/>
              </a:defRPr>
            </a:pPr>
            <a:r>
              <a:t>Slide 4 / 28</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457200"/>
            <a:ext cx="10545775" cy="914400"/>
          </a:xfrm>
          <a:prstGeom prst="rect">
            <a:avLst/>
          </a:prstGeom>
          <a:noFill/>
        </p:spPr>
        <p:txBody>
          <a:bodyPr wrap="square" lIns="0" tIns="0" rIns="0" bIns="0">
            <a:spAutoFit/>
          </a:bodyPr>
          <a:lstStyle/>
          <a:p>
            <a:pPr>
              <a:defRPr sz="3200" b="1">
                <a:solidFill>
                  <a:srgbClr val="0F172A"/>
                </a:solidFill>
                <a:latin typeface="Arial"/>
              </a:defRPr>
            </a:pPr>
            <a:r>
              <a:t>Six-Week Development Timeline</a:t>
            </a:r>
          </a:p>
        </p:txBody>
      </p:sp>
      <p:sp>
        <p:nvSpPr>
          <p:cNvPr id="4" name="Rectangle 3"/>
          <p:cNvSpPr/>
          <p:nvPr/>
        </p:nvSpPr>
        <p:spPr>
          <a:xfrm>
            <a:off x="822960" y="1280160"/>
            <a:ext cx="10545775" cy="27432"/>
          </a:xfrm>
          <a:prstGeom prst="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822960" y="1737360"/>
            <a:ext cx="5029200" cy="3931920"/>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400">
                <a:solidFill>
                  <a:srgbClr val="2563EB"/>
                </a:solidFill>
              </a:defRPr>
            </a:pPr>
            <a:r>
              <a:t>PHASE 1: EVENT INGESTION (WEEKS 1 - 3)</a:t>
            </a:r>
          </a:p>
          <a:p>
            <a:pPr>
              <a:spcBef>
                <a:spcPts val="1200"/>
              </a:spcBef>
              <a:defRPr sz="1300">
                <a:solidFill>
                  <a:srgbClr val="475569"/>
                </a:solidFill>
              </a:defRPr>
            </a:pPr>
            <a:r>
              <a:t>• Constructed raw stream parser supporting multi-format JSON, CSV, and XML pipelines.</a:t>
            </a:r>
          </a:p>
          <a:p>
            <a:pPr>
              <a:spcBef>
                <a:spcPts val="1200"/>
              </a:spcBef>
              <a:defRPr sz="1300">
                <a:solidFill>
                  <a:srgbClr val="475569"/>
                </a:solidFill>
              </a:defRPr>
            </a:pPr>
            <a:r>
              <a:t>• Built ingestion gateway decoupled with Apache Kafka broker.</a:t>
            </a:r>
          </a:p>
          <a:p>
            <a:pPr>
              <a:spcBef>
                <a:spcPts val="1200"/>
              </a:spcBef>
              <a:defRPr sz="1300">
                <a:solidFill>
                  <a:srgbClr val="475569"/>
                </a:solidFill>
              </a:defRPr>
            </a:pPr>
            <a:r>
              <a:t>• Implemented real-time data streaming using JWT security patterns.</a:t>
            </a:r>
          </a:p>
          <a:p>
            <a:pPr>
              <a:spcBef>
                <a:spcPts val="1200"/>
              </a:spcBef>
              <a:defRPr sz="1300">
                <a:solidFill>
                  <a:srgbClr val="475569"/>
                </a:solidFill>
              </a:defRPr>
            </a:pPr>
            <a:r>
              <a:t>• Delivered telemetry variables to live dashboard through WebSockets.</a:t>
            </a:r>
          </a:p>
        </p:txBody>
      </p:sp>
      <p:sp>
        <p:nvSpPr>
          <p:cNvPr id="6" name="Rounded Rectangle 5"/>
          <p:cNvSpPr/>
          <p:nvPr/>
        </p:nvSpPr>
        <p:spPr>
          <a:xfrm>
            <a:off x="6309360" y="1737360"/>
            <a:ext cx="5029200" cy="3931920"/>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400">
                <a:solidFill>
                  <a:srgbClr val="2563EB"/>
                </a:solidFill>
              </a:defRPr>
            </a:pPr>
            <a:r>
              <a:t>PHASE 2: PLATFORM EVOLUTION (WEEKS 4 - 6)</a:t>
            </a:r>
          </a:p>
          <a:p>
            <a:pPr>
              <a:spcBef>
                <a:spcPts val="1200"/>
              </a:spcBef>
              <a:defRPr sz="1300">
                <a:solidFill>
                  <a:srgbClr val="475569"/>
                </a:solidFill>
              </a:defRPr>
            </a:pPr>
            <a:r>
              <a:t>• Transitioned into full-scale, structured Zabbix-style metric monitor.</a:t>
            </a:r>
          </a:p>
          <a:p>
            <a:pPr>
              <a:spcBef>
                <a:spcPts val="1200"/>
              </a:spcBef>
              <a:defRPr sz="1300">
                <a:solidFill>
                  <a:srgbClr val="475569"/>
                </a:solidFill>
              </a:defRPr>
            </a:pPr>
            <a:r>
              <a:t>• Engineered lightweight, zero-dependency Node.js client agent.</a:t>
            </a:r>
          </a:p>
          <a:p>
            <a:pPr>
              <a:spcBef>
                <a:spcPts val="1200"/>
              </a:spcBef>
              <a:defRPr sz="1300">
                <a:solidFill>
                  <a:srgbClr val="475569"/>
                </a:solidFill>
              </a:defRPr>
            </a:pPr>
            <a:r>
              <a:t>• Configured dual-database strategy (PostgreSQL &amp; ClickHouse).</a:t>
            </a:r>
          </a:p>
          <a:p>
            <a:pPr>
              <a:spcBef>
                <a:spcPts val="1200"/>
              </a:spcBef>
              <a:defRPr sz="1300">
                <a:solidFill>
                  <a:srgbClr val="475569"/>
                </a:solidFill>
              </a:defRPr>
            </a:pPr>
            <a:r>
              <a:t>• Created custom threshold alerting model and interactive Next.js dashboard.</a:t>
            </a:r>
          </a:p>
        </p:txBody>
      </p:sp>
      <p:sp>
        <p:nvSpPr>
          <p:cNvPr id="7" name="TextBox 6"/>
          <p:cNvSpPr txBox="1"/>
          <p:nvPr/>
        </p:nvSpPr>
        <p:spPr>
          <a:xfrm>
            <a:off x="822960" y="6217920"/>
            <a:ext cx="10545775" cy="365760"/>
          </a:xfrm>
          <a:prstGeom prst="rect">
            <a:avLst/>
          </a:prstGeom>
          <a:noFill/>
        </p:spPr>
        <p:txBody>
          <a:bodyPr wrap="none">
            <a:spAutoFit/>
          </a:bodyPr>
          <a:lstStyle/>
          <a:p>
            <a:pPr>
              <a:defRPr sz="1100">
                <a:solidFill>
                  <a:srgbClr val="475569"/>
                </a:solidFill>
                <a:latin typeface="Arial"/>
              </a:defRPr>
            </a:pPr>
            <a:r>
              <a:t>ISRO • ISTRAC LUCKNOW</a:t>
            </a:r>
          </a:p>
          <a:p>
            <a:pPr algn="r">
              <a:defRPr sz="1100">
                <a:solidFill>
                  <a:srgbClr val="475569"/>
                </a:solidFill>
                <a:latin typeface="Arial"/>
              </a:defRPr>
            </a:pPr>
            <a:r>
              <a:t>Slide 5 / 28</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457200"/>
            <a:ext cx="10545775" cy="914400"/>
          </a:xfrm>
          <a:prstGeom prst="rect">
            <a:avLst/>
          </a:prstGeom>
          <a:noFill/>
        </p:spPr>
        <p:txBody>
          <a:bodyPr wrap="square" lIns="0" tIns="0" rIns="0" bIns="0">
            <a:spAutoFit/>
          </a:bodyPr>
          <a:lstStyle/>
          <a:p>
            <a:pPr>
              <a:defRPr sz="3200" b="1">
                <a:solidFill>
                  <a:srgbClr val="0F172A"/>
                </a:solidFill>
                <a:latin typeface="Arial"/>
              </a:defRPr>
            </a:pPr>
            <a:r>
              <a:t>Phase 1: Universal Ingestion Architecture</a:t>
            </a:r>
          </a:p>
        </p:txBody>
      </p:sp>
      <p:sp>
        <p:nvSpPr>
          <p:cNvPr id="4" name="Rectangle 3"/>
          <p:cNvSpPr/>
          <p:nvPr/>
        </p:nvSpPr>
        <p:spPr>
          <a:xfrm>
            <a:off x="822960" y="1280160"/>
            <a:ext cx="10545775" cy="27432"/>
          </a:xfrm>
          <a:prstGeom prst="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737360"/>
            <a:ext cx="5029200" cy="4114800"/>
          </a:xfrm>
          <a:prstGeom prst="rect">
            <a:avLst/>
          </a:prstGeom>
          <a:noFill/>
        </p:spPr>
        <p:txBody>
          <a:bodyPr wrap="square" lIns="0" tIns="0" rIns="0" bIns="0">
            <a:spAutoFit/>
          </a:bodyPr>
          <a:lstStyle/>
          <a:p>
            <a:pPr>
              <a:spcAft>
                <a:spcPts val="1200"/>
              </a:spcAft>
              <a:defRPr sz="1600">
                <a:solidFill>
                  <a:srgbClr val="475569"/>
                </a:solidFill>
                <a:latin typeface="Arial"/>
              </a:defRPr>
            </a:pPr>
            <a:r>
              <a:t>•  Format-Agnostic Ingestion Engine: Handled high-throughput logs containing mixed structures (Syslog, CSV, Key-Value) without upfront schema constraints.</a:t>
            </a:r>
          </a:p>
          <a:p>
            <a:pPr>
              <a:spcAft>
                <a:spcPts val="1200"/>
              </a:spcAft>
              <a:defRPr sz="1600">
                <a:solidFill>
                  <a:srgbClr val="475569"/>
                </a:solidFill>
                <a:latin typeface="Arial"/>
              </a:defRPr>
            </a:pPr>
            <a:r>
              <a:t>•  Asynchronous Processing Pipeline: Separated network listener components from database operations using Kafka.</a:t>
            </a:r>
          </a:p>
          <a:p>
            <a:pPr>
              <a:spcAft>
                <a:spcPts val="1200"/>
              </a:spcAft>
              <a:defRPr sz="1600">
                <a:solidFill>
                  <a:srgbClr val="475569"/>
                </a:solidFill>
                <a:latin typeface="Arial"/>
              </a:defRPr>
            </a:pPr>
            <a:r>
              <a:t>•  JWT-Secured Node Boundaries: Protected microservice communication paths with token verification routines.</a:t>
            </a:r>
          </a:p>
        </p:txBody>
      </p:sp>
      <p:sp>
        <p:nvSpPr>
          <p:cNvPr id="6" name="Rectangle 5"/>
          <p:cNvSpPr/>
          <p:nvPr/>
        </p:nvSpPr>
        <p:spPr>
          <a:xfrm>
            <a:off x="6400800" y="1737360"/>
            <a:ext cx="4937760" cy="3931920"/>
          </a:xfrm>
          <a:prstGeom prst="rect">
            <a:avLst/>
          </a:prstGeom>
          <a:solidFill>
            <a:srgbClr val="0A0F1D"/>
          </a:solidFill>
          <a:ln>
            <a:solidFill>
              <a:srgbClr val="0A0F1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400">
                <a:solidFill>
                  <a:srgbClr val="FFFFFF"/>
                </a:solidFill>
              </a:defRPr>
            </a:pPr>
            <a:r>
              <a:t>PHASE 1 PIPELINE TOPOLOGY</a:t>
            </a:r>
          </a:p>
          <a:p>
            <a:pPr>
              <a:spcBef>
                <a:spcPts val="2000"/>
              </a:spcBef>
              <a:defRPr sz="1300">
                <a:solidFill>
                  <a:srgbClr val="38BDF8"/>
                </a:solidFill>
                <a:latin typeface="Courier New"/>
              </a:defRPr>
            </a:pPr>
            <a:r>
              <a:t> [Log Source] -&gt; [HTTP Gateway]</a:t>
            </a:r>
            <a:br/>
            <a:r>
              <a:t>                      |</a:t>
            </a:r>
            <a:br/>
            <a:r>
              <a:t>                      v</a:t>
            </a:r>
            <a:br/>
            <a:r>
              <a:t>               [Kafka Buffer]</a:t>
            </a:r>
            <a:br/>
            <a:r>
              <a:t>                      |</a:t>
            </a:r>
            <a:br/>
            <a:r>
              <a:t>                      v</a:t>
            </a:r>
            <a:br/>
            <a:r>
              <a:t>              [Token Parser]</a:t>
            </a:r>
            <a:br/>
            <a:r>
              <a:t>                      |</a:t>
            </a:r>
            <a:br/>
            <a:r>
              <a:t>                      v</a:t>
            </a:r>
            <a:br/>
            <a:r>
              <a:t>       [PostgreSQL] ----- [Redis PubSub]</a:t>
            </a:r>
            <a:br/>
            <a:r>
              <a:t>                                |</a:t>
            </a:r>
            <a:br/>
            <a:r>
              <a:t>                                v</a:t>
            </a:r>
            <a:br/>
            <a:r>
              <a:t>                         [Live Dashboard]</a:t>
            </a:r>
          </a:p>
        </p:txBody>
      </p:sp>
      <p:sp>
        <p:nvSpPr>
          <p:cNvPr id="7" name="TextBox 6"/>
          <p:cNvSpPr txBox="1"/>
          <p:nvPr/>
        </p:nvSpPr>
        <p:spPr>
          <a:xfrm>
            <a:off x="822960" y="6217920"/>
            <a:ext cx="10545775" cy="365760"/>
          </a:xfrm>
          <a:prstGeom prst="rect">
            <a:avLst/>
          </a:prstGeom>
          <a:noFill/>
        </p:spPr>
        <p:txBody>
          <a:bodyPr wrap="none">
            <a:spAutoFit/>
          </a:bodyPr>
          <a:lstStyle/>
          <a:p>
            <a:pPr>
              <a:defRPr sz="1100">
                <a:solidFill>
                  <a:srgbClr val="475569"/>
                </a:solidFill>
                <a:latin typeface="Arial"/>
              </a:defRPr>
            </a:pPr>
            <a:r>
              <a:t>ISRO • ISTRAC LUCKNOW</a:t>
            </a:r>
          </a:p>
          <a:p>
            <a:pPr algn="r">
              <a:defRPr sz="1100">
                <a:solidFill>
                  <a:srgbClr val="475569"/>
                </a:solidFill>
                <a:latin typeface="Arial"/>
              </a:defRPr>
            </a:pPr>
            <a:r>
              <a:t>Slide 6 / 28</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457200"/>
            <a:ext cx="10545775" cy="914400"/>
          </a:xfrm>
          <a:prstGeom prst="rect">
            <a:avLst/>
          </a:prstGeom>
          <a:noFill/>
        </p:spPr>
        <p:txBody>
          <a:bodyPr wrap="square" lIns="0" tIns="0" rIns="0" bIns="0">
            <a:spAutoFit/>
          </a:bodyPr>
          <a:lstStyle/>
          <a:p>
            <a:pPr>
              <a:defRPr sz="3200" b="1">
                <a:solidFill>
                  <a:srgbClr val="0F172A"/>
                </a:solidFill>
                <a:latin typeface="Arial"/>
              </a:defRPr>
            </a:pPr>
            <a:r>
              <a:t>Strategic Pivot: Logs to Metrics</a:t>
            </a:r>
          </a:p>
        </p:txBody>
      </p:sp>
      <p:sp>
        <p:nvSpPr>
          <p:cNvPr id="4" name="Rectangle 3"/>
          <p:cNvSpPr/>
          <p:nvPr/>
        </p:nvSpPr>
        <p:spPr>
          <a:xfrm>
            <a:off x="822960" y="1280160"/>
            <a:ext cx="10545775" cy="27432"/>
          </a:xfrm>
          <a:prstGeom prst="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22960" y="1737360"/>
            <a:ext cx="4937760" cy="3931920"/>
          </a:xfrm>
          <a:prstGeom prst="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400">
                <a:solidFill>
                  <a:srgbClr val="0F172A"/>
                </a:solidFill>
              </a:defRPr>
            </a:pPr>
            <a:r>
              <a:t>PHASE 1: LOG ANALYTICS</a:t>
            </a:r>
          </a:p>
          <a:p>
            <a:pPr>
              <a:spcBef>
                <a:spcPts val="1200"/>
              </a:spcBef>
              <a:defRPr sz="1300">
                <a:solidFill>
                  <a:srgbClr val="475569"/>
                </a:solidFill>
              </a:defRPr>
            </a:pPr>
            <a:r>
              <a:t>• Raw event lines provide audit trails but lack host performance indicators.</a:t>
            </a:r>
          </a:p>
          <a:p>
            <a:pPr>
              <a:spcBef>
                <a:spcPts val="1200"/>
              </a:spcBef>
              <a:defRPr sz="1300">
                <a:solidFill>
                  <a:srgbClr val="475569"/>
                </a:solidFill>
              </a:defRPr>
            </a:pPr>
            <a:r>
              <a:t>• Assessing rapid memory leakage, swap performance, or disk limits is slow.</a:t>
            </a:r>
          </a:p>
          <a:p>
            <a:pPr>
              <a:spcBef>
                <a:spcPts val="1200"/>
              </a:spcBef>
              <a:defRPr sz="1300">
                <a:solidFill>
                  <a:srgbClr val="475569"/>
                </a:solidFill>
              </a:defRPr>
            </a:pPr>
            <a:r>
              <a:t>• Relies heavily on CPU-intensive regular expressions for metrics extraction.</a:t>
            </a:r>
          </a:p>
        </p:txBody>
      </p:sp>
      <p:sp>
        <p:nvSpPr>
          <p:cNvPr id="6" name="Rectangle 5"/>
          <p:cNvSpPr/>
          <p:nvPr/>
        </p:nvSpPr>
        <p:spPr>
          <a:xfrm>
            <a:off x="6309360" y="1737360"/>
            <a:ext cx="5029200" cy="3931920"/>
          </a:xfrm>
          <a:prstGeom prst="rect">
            <a:avLst/>
          </a:prstGeom>
          <a:solidFill>
            <a:srgbClr val="F1F5F9"/>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400">
                <a:solidFill>
                  <a:srgbClr val="2563EB"/>
                </a:solidFill>
              </a:defRPr>
            </a:pPr>
            <a:r>
              <a:t>PHASE 2: STRUCTURED INFRASTRUCTURE METRICS</a:t>
            </a:r>
          </a:p>
          <a:p>
            <a:pPr>
              <a:spcBef>
                <a:spcPts val="1200"/>
              </a:spcBef>
              <a:defRPr sz="1300">
                <a:solidFill>
                  <a:srgbClr val="475569"/>
                </a:solidFill>
              </a:defRPr>
            </a:pPr>
            <a:r>
              <a:t>• Standardized JSON payload models host health directly.</a:t>
            </a:r>
          </a:p>
          <a:p>
            <a:pPr>
              <a:spcBef>
                <a:spcPts val="1200"/>
              </a:spcBef>
              <a:defRPr sz="1300">
                <a:solidFill>
                  <a:srgbClr val="475569"/>
                </a:solidFill>
              </a:defRPr>
            </a:pPr>
            <a:r>
              <a:t>• Reused the proven high-throughput Kafka-Express messaging gateway.</a:t>
            </a:r>
          </a:p>
          <a:p>
            <a:pPr>
              <a:spcBef>
                <a:spcPts val="1200"/>
              </a:spcBef>
              <a:defRPr sz="1300">
                <a:solidFill>
                  <a:srgbClr val="475569"/>
                </a:solidFill>
              </a:defRPr>
            </a:pPr>
            <a:r>
              <a:t>• Integrated sub-second alerting and problem-state management in database.</a:t>
            </a:r>
          </a:p>
        </p:txBody>
      </p:sp>
      <p:sp>
        <p:nvSpPr>
          <p:cNvPr id="7" name="TextBox 6"/>
          <p:cNvSpPr txBox="1"/>
          <p:nvPr/>
        </p:nvSpPr>
        <p:spPr>
          <a:xfrm>
            <a:off x="822960" y="6217920"/>
            <a:ext cx="10545775" cy="365760"/>
          </a:xfrm>
          <a:prstGeom prst="rect">
            <a:avLst/>
          </a:prstGeom>
          <a:noFill/>
        </p:spPr>
        <p:txBody>
          <a:bodyPr wrap="none">
            <a:spAutoFit/>
          </a:bodyPr>
          <a:lstStyle/>
          <a:p>
            <a:pPr>
              <a:defRPr sz="1100">
                <a:solidFill>
                  <a:srgbClr val="475569"/>
                </a:solidFill>
                <a:latin typeface="Arial"/>
              </a:defRPr>
            </a:pPr>
            <a:r>
              <a:t>ISRO • ISTRAC LUCKNOW</a:t>
            </a:r>
          </a:p>
          <a:p>
            <a:pPr algn="r">
              <a:defRPr sz="1100">
                <a:solidFill>
                  <a:srgbClr val="475569"/>
                </a:solidFill>
                <a:latin typeface="Arial"/>
              </a:defRPr>
            </a:pPr>
            <a:r>
              <a:t>Slide 7 / 28</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457200"/>
            <a:ext cx="10545775" cy="914400"/>
          </a:xfrm>
          <a:prstGeom prst="rect">
            <a:avLst/>
          </a:prstGeom>
          <a:noFill/>
        </p:spPr>
        <p:txBody>
          <a:bodyPr wrap="square" lIns="0" tIns="0" rIns="0" bIns="0">
            <a:spAutoFit/>
          </a:bodyPr>
          <a:lstStyle/>
          <a:p>
            <a:pPr>
              <a:defRPr sz="3200" b="1">
                <a:solidFill>
                  <a:srgbClr val="0F172A"/>
                </a:solidFill>
                <a:latin typeface="Arial"/>
              </a:defRPr>
            </a:pPr>
            <a:r>
              <a:t>Final System Architecture Pipeline</a:t>
            </a:r>
          </a:p>
        </p:txBody>
      </p:sp>
      <p:sp>
        <p:nvSpPr>
          <p:cNvPr id="4" name="Rectangle 3"/>
          <p:cNvSpPr/>
          <p:nvPr/>
        </p:nvSpPr>
        <p:spPr>
          <a:xfrm>
            <a:off x="822960" y="1280160"/>
            <a:ext cx="10545775" cy="27432"/>
          </a:xfrm>
          <a:prstGeom prst="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737360"/>
            <a:ext cx="5029200" cy="4114800"/>
          </a:xfrm>
          <a:prstGeom prst="rect">
            <a:avLst/>
          </a:prstGeom>
          <a:noFill/>
        </p:spPr>
        <p:txBody>
          <a:bodyPr wrap="square" lIns="0" tIns="0" rIns="0" bIns="0">
            <a:spAutoFit/>
          </a:bodyPr>
          <a:lstStyle/>
          <a:p>
            <a:pPr>
              <a:spcAft>
                <a:spcPts val="1200"/>
              </a:spcAft>
              <a:defRPr sz="1600">
                <a:solidFill>
                  <a:srgbClr val="475569"/>
                </a:solidFill>
                <a:latin typeface="Arial"/>
              </a:defRPr>
            </a:pPr>
            <a:r>
              <a:t>•  Node.js Host Agent: Pulls resource metrics locally and runs shell tasks across OS types.</a:t>
            </a:r>
          </a:p>
          <a:p>
            <a:pPr>
              <a:spcAft>
                <a:spcPts val="1200"/>
              </a:spcAft>
              <a:defRPr sz="1600">
                <a:solidFill>
                  <a:srgbClr val="475569"/>
                </a:solidFill>
                <a:latin typeface="Arial"/>
              </a:defRPr>
            </a:pPr>
            <a:r>
              <a:t>•  Kafka Ingestion Broker: Buffers REST gateway traffic, preventing data loss during agent spikes.</a:t>
            </a:r>
          </a:p>
          <a:p>
            <a:pPr>
              <a:spcAft>
                <a:spcPts val="1200"/>
              </a:spcAft>
              <a:defRPr sz="1600">
                <a:solidFill>
                  <a:srgbClr val="475569"/>
                </a:solidFill>
                <a:latin typeface="Arial"/>
              </a:defRPr>
            </a:pPr>
            <a:r>
              <a:t>•  Dual Storage Strategy: Stores active problems in PostgreSQL and registers time-series series in ClickHouse.</a:t>
            </a:r>
          </a:p>
          <a:p>
            <a:pPr>
              <a:spcAft>
                <a:spcPts val="1200"/>
              </a:spcAft>
              <a:defRPr sz="1600">
                <a:solidFill>
                  <a:srgbClr val="475569"/>
                </a:solidFill>
                <a:latin typeface="Arial"/>
              </a:defRPr>
            </a:pPr>
            <a:r>
              <a:t>•  Real-time Pipeline: Delivers events via Redis PubSub straight to the WebSocket client.</a:t>
            </a:r>
          </a:p>
        </p:txBody>
      </p:sp>
      <p:sp>
        <p:nvSpPr>
          <p:cNvPr id="6" name="Rectangle 5"/>
          <p:cNvSpPr/>
          <p:nvPr/>
        </p:nvSpPr>
        <p:spPr>
          <a:xfrm>
            <a:off x="6400800" y="1737360"/>
            <a:ext cx="4937760" cy="3931920"/>
          </a:xfrm>
          <a:prstGeom prst="rect">
            <a:avLst/>
          </a:prstGeom>
          <a:solidFill>
            <a:srgbClr val="0A0F1D"/>
          </a:solidFill>
          <a:ln>
            <a:solidFill>
              <a:srgbClr val="0A0F1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400">
                <a:solidFill>
                  <a:srgbClr val="FFFFFF"/>
                </a:solidFill>
              </a:defRPr>
            </a:pPr>
            <a:r>
              <a:t>DATA PIPELINE SCHEMATIC</a:t>
            </a:r>
          </a:p>
          <a:p>
            <a:pPr>
              <a:spcBef>
                <a:spcPts val="1600"/>
              </a:spcBef>
              <a:defRPr sz="1200">
                <a:solidFill>
                  <a:srgbClr val="38BDF8"/>
                </a:solidFill>
                <a:latin typeface="Courier New"/>
              </a:defRPr>
            </a:pPr>
            <a:r>
              <a:t> [Host Agent] -&gt; API Ingestion Gateway (:4000)</a:t>
            </a:r>
            <a:br/>
            <a:r>
              <a:t>                        |</a:t>
            </a:r>
            <a:br/>
            <a:r>
              <a:t>                        v</a:t>
            </a:r>
            <a:br/>
            <a:r>
              <a:t>                 [Kafka Broker]</a:t>
            </a:r>
            <a:br/>
            <a:r>
              <a:t>                        |</a:t>
            </a:r>
            <a:br/>
            <a:r>
              <a:t>                        v</a:t>
            </a:r>
            <a:br/>
            <a:r>
              <a:t>              [Metrics Processor]</a:t>
            </a:r>
            <a:br/>
            <a:r>
              <a:t>                        |</a:t>
            </a:r>
            <a:br/>
            <a:r>
              <a:t>        +---------------+--------------+</a:t>
            </a:r>
            <a:br/>
            <a:r>
              <a:t>        |                              |</a:t>
            </a:r>
            <a:br/>
            <a:r>
              <a:t>        v                              v</a:t>
            </a:r>
            <a:br/>
            <a:r>
              <a:t> [PostgreSQL State]           [ClickHouse Storage]</a:t>
            </a:r>
            <a:br/>
            <a:r>
              <a:t>        |</a:t>
            </a:r>
            <a:br/>
            <a:r>
              <a:t>        v [Redis PubSub] -&gt; [WS Gateway] -&gt; [UI]</a:t>
            </a:r>
          </a:p>
        </p:txBody>
      </p:sp>
      <p:sp>
        <p:nvSpPr>
          <p:cNvPr id="7" name="TextBox 6"/>
          <p:cNvSpPr txBox="1"/>
          <p:nvPr/>
        </p:nvSpPr>
        <p:spPr>
          <a:xfrm>
            <a:off x="822960" y="6217920"/>
            <a:ext cx="10545775" cy="365760"/>
          </a:xfrm>
          <a:prstGeom prst="rect">
            <a:avLst/>
          </a:prstGeom>
          <a:noFill/>
        </p:spPr>
        <p:txBody>
          <a:bodyPr wrap="none">
            <a:spAutoFit/>
          </a:bodyPr>
          <a:lstStyle/>
          <a:p>
            <a:pPr>
              <a:defRPr sz="1100">
                <a:solidFill>
                  <a:srgbClr val="475569"/>
                </a:solidFill>
                <a:latin typeface="Arial"/>
              </a:defRPr>
            </a:pPr>
            <a:r>
              <a:t>ISRO • ISTRAC LUCKNOW</a:t>
            </a:r>
          </a:p>
          <a:p>
            <a:pPr algn="r">
              <a:defRPr sz="1100">
                <a:solidFill>
                  <a:srgbClr val="475569"/>
                </a:solidFill>
                <a:latin typeface="Arial"/>
              </a:defRPr>
            </a:pPr>
            <a:r>
              <a:t>Slide 8 / 28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457200"/>
            <a:ext cx="10545775" cy="914400"/>
          </a:xfrm>
          <a:prstGeom prst="rect">
            <a:avLst/>
          </a:prstGeom>
          <a:noFill/>
        </p:spPr>
        <p:txBody>
          <a:bodyPr wrap="square" lIns="0" tIns="0" rIns="0" bIns="0">
            <a:spAutoFit/>
          </a:bodyPr>
          <a:lstStyle/>
          <a:p>
            <a:pPr>
              <a:defRPr sz="3200" b="1">
                <a:solidFill>
                  <a:srgbClr val="0F172A"/>
                </a:solidFill>
                <a:latin typeface="Arial"/>
              </a:defRPr>
            </a:pPr>
            <a:r>
              <a:t>Technology Stack Selection Matrix</a:t>
            </a:r>
          </a:p>
        </p:txBody>
      </p:sp>
      <p:sp>
        <p:nvSpPr>
          <p:cNvPr id="4" name="Rectangle 3"/>
          <p:cNvSpPr/>
          <p:nvPr/>
        </p:nvSpPr>
        <p:spPr>
          <a:xfrm>
            <a:off x="822960" y="1280160"/>
            <a:ext cx="10545775" cy="27432"/>
          </a:xfrm>
          <a:prstGeom prst="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822960" y="1645920"/>
          <a:ext cx="10545775" cy="4206240"/>
        </p:xfrm>
        <a:graphic>
          <a:graphicData uri="http://schemas.openxmlformats.org/drawingml/2006/table">
            <a:tbl>
              <a:tblPr firstRow="1" bandRow="1">
                <a:tableStyleId>{5C22544A-7EE6-4342-B048-85BDC9FD1C3A}</a:tableStyleId>
              </a:tblPr>
              <a:tblGrid>
                <a:gridCol w="2011680"/>
                <a:gridCol w="2743200"/>
                <a:gridCol w="5790895"/>
              </a:tblGrid>
              <a:tr h="382385">
                <a:tc>
                  <a:txBody>
                    <a:bodyPr/>
                    <a:lstStyle/>
                    <a:p>
                      <a:pPr>
                        <a:defRPr b="1" sz="1300">
                          <a:solidFill>
                            <a:srgbClr val="FFFFFF"/>
                          </a:solidFill>
                        </a:defRPr>
                      </a:pPr>
                      <a:r>
                        <a:t>Infrastructure Layer</a:t>
                      </a:r>
                    </a:p>
                  </a:txBody>
                  <a:tcPr>
                    <a:solidFill>
                      <a:srgbClr val="0A0F1D"/>
                    </a:solidFill>
                  </a:tcPr>
                </a:tc>
                <a:tc>
                  <a:txBody>
                    <a:bodyPr/>
                    <a:lstStyle/>
                    <a:p>
                      <a:pPr>
                        <a:defRPr b="1" sz="1300">
                          <a:solidFill>
                            <a:srgbClr val="FFFFFF"/>
                          </a:solidFill>
                        </a:defRPr>
                      </a:pPr>
                      <a:r>
                        <a:t>Selected Technology</a:t>
                      </a:r>
                    </a:p>
                  </a:txBody>
                  <a:tcPr>
                    <a:solidFill>
                      <a:srgbClr val="0A0F1D"/>
                    </a:solidFill>
                  </a:tcPr>
                </a:tc>
                <a:tc>
                  <a:txBody>
                    <a:bodyPr/>
                    <a:lstStyle/>
                    <a:p>
                      <a:pPr>
                        <a:defRPr b="1" sz="1300">
                          <a:solidFill>
                            <a:srgbClr val="FFFFFF"/>
                          </a:solidFill>
                        </a:defRPr>
                      </a:pPr>
                      <a:r>
                        <a:t>Core Engineering Rationale</a:t>
                      </a:r>
                    </a:p>
                  </a:txBody>
                  <a:tcPr>
                    <a:solidFill>
                      <a:srgbClr val="0A0F1D"/>
                    </a:solidFill>
                  </a:tcPr>
                </a:tc>
              </a:tr>
              <a:tr h="382385">
                <a:tc>
                  <a:txBody>
                    <a:bodyPr/>
                    <a:lstStyle/>
                    <a:p>
                      <a:pPr>
                        <a:defRPr sz="1100">
                          <a:solidFill>
                            <a:srgbClr val="475569"/>
                          </a:solidFill>
                        </a:defRPr>
                      </a:pPr>
                      <a:r>
                        <a:t>Runtime</a:t>
                      </a:r>
                    </a:p>
                  </a:txBody>
                  <a:tcPr>
                    <a:solidFill>
                      <a:srgbClr val="F1F5F9"/>
                    </a:solidFill>
                  </a:tcPr>
                </a:tc>
                <a:tc>
                  <a:txBody>
                    <a:bodyPr/>
                    <a:lstStyle/>
                    <a:p>
                      <a:pPr>
                        <a:defRPr sz="1100">
                          <a:solidFill>
                            <a:srgbClr val="475569"/>
                          </a:solidFill>
                        </a:defRPr>
                      </a:pPr>
                      <a:r>
                        <a:t>Node.js 20 (LTS)</a:t>
                      </a:r>
                    </a:p>
                  </a:txBody>
                  <a:tcPr>
                    <a:solidFill>
                      <a:srgbClr val="F1F5F9"/>
                    </a:solidFill>
                  </a:tcPr>
                </a:tc>
                <a:tc>
                  <a:txBody>
                    <a:bodyPr/>
                    <a:lstStyle/>
                    <a:p>
                      <a:pPr>
                        <a:defRPr sz="1100">
                          <a:solidFill>
                            <a:srgbClr val="475569"/>
                          </a:solidFill>
                        </a:defRPr>
                      </a:pPr>
                      <a:r>
                        <a:t>Event-driven asynchronous framework ideal for handling high I/O volumes.</a:t>
                      </a:r>
                    </a:p>
                  </a:txBody>
                  <a:tcPr>
                    <a:solidFill>
                      <a:srgbClr val="F1F5F9"/>
                    </a:solidFill>
                  </a:tcPr>
                </a:tc>
              </a:tr>
              <a:tr h="382385">
                <a:tc>
                  <a:txBody>
                    <a:bodyPr/>
                    <a:lstStyle/>
                    <a:p>
                      <a:pPr>
                        <a:defRPr sz="1100">
                          <a:solidFill>
                            <a:srgbClr val="475569"/>
                          </a:solidFill>
                        </a:defRPr>
                      </a:pPr>
                      <a:r>
                        <a:t>API Layer</a:t>
                      </a:r>
                    </a:p>
                  </a:txBody>
                  <a:tcPr>
                    <a:solidFill>
                      <a:srgbClr val="FFFFFF"/>
                    </a:solidFill>
                  </a:tcPr>
                </a:tc>
                <a:tc>
                  <a:txBody>
                    <a:bodyPr/>
                    <a:lstStyle/>
                    <a:p>
                      <a:pPr>
                        <a:defRPr sz="1100">
                          <a:solidFill>
                            <a:srgbClr val="475569"/>
                          </a:solidFill>
                        </a:defRPr>
                      </a:pPr>
                      <a:r>
                        <a:t>Fastify Framework</a:t>
                      </a:r>
                    </a:p>
                  </a:txBody>
                  <a:tcPr>
                    <a:solidFill>
                      <a:srgbClr val="FFFFFF"/>
                    </a:solidFill>
                  </a:tcPr>
                </a:tc>
                <a:tc>
                  <a:txBody>
                    <a:bodyPr/>
                    <a:lstStyle/>
                    <a:p>
                      <a:pPr>
                        <a:defRPr sz="1100">
                          <a:solidFill>
                            <a:srgbClr val="475569"/>
                          </a:solidFill>
                        </a:defRPr>
                      </a:pPr>
                      <a:r>
                        <a:t>Extremely fast, lower-overhead alternative to traditional Express.</a:t>
                      </a:r>
                    </a:p>
                  </a:txBody>
                  <a:tcPr>
                    <a:solidFill>
                      <a:srgbClr val="FFFFFF"/>
                    </a:solidFill>
                  </a:tcPr>
                </a:tc>
              </a:tr>
              <a:tr h="382385">
                <a:tc>
                  <a:txBody>
                    <a:bodyPr/>
                    <a:lstStyle/>
                    <a:p>
                      <a:pPr>
                        <a:defRPr sz="1100">
                          <a:solidFill>
                            <a:srgbClr val="475569"/>
                          </a:solidFill>
                        </a:defRPr>
                      </a:pPr>
                      <a:r>
                        <a:t>Frontend Portal</a:t>
                      </a:r>
                    </a:p>
                  </a:txBody>
                  <a:tcPr>
                    <a:solidFill>
                      <a:srgbClr val="F1F5F9"/>
                    </a:solidFill>
                  </a:tcPr>
                </a:tc>
                <a:tc>
                  <a:txBody>
                    <a:bodyPr/>
                    <a:lstStyle/>
                    <a:p>
                      <a:pPr>
                        <a:defRPr sz="1100">
                          <a:solidFill>
                            <a:srgbClr val="475569"/>
                          </a:solidFill>
                        </a:defRPr>
                      </a:pPr>
                      <a:r>
                        <a:t>Next.js 14 &amp; React</a:t>
                      </a:r>
                    </a:p>
                  </a:txBody>
                  <a:tcPr>
                    <a:solidFill>
                      <a:srgbClr val="F1F5F9"/>
                    </a:solidFill>
                  </a:tcPr>
                </a:tc>
                <a:tc>
                  <a:txBody>
                    <a:bodyPr/>
                    <a:lstStyle/>
                    <a:p>
                      <a:pPr>
                        <a:defRPr sz="1100">
                          <a:solidFill>
                            <a:srgbClr val="475569"/>
                          </a:solidFill>
                        </a:defRPr>
                      </a:pPr>
                      <a:r>
                        <a:t>Robust React-based framework for server-rendered user state.</a:t>
                      </a:r>
                    </a:p>
                  </a:txBody>
                  <a:tcPr>
                    <a:solidFill>
                      <a:srgbClr val="F1F5F9"/>
                    </a:solidFill>
                  </a:tcPr>
                </a:tc>
              </a:tr>
              <a:tr h="382385">
                <a:tc>
                  <a:txBody>
                    <a:bodyPr/>
                    <a:lstStyle/>
                    <a:p>
                      <a:pPr>
                        <a:defRPr sz="1100">
                          <a:solidFill>
                            <a:srgbClr val="475569"/>
                          </a:solidFill>
                        </a:defRPr>
                      </a:pPr>
                      <a:r>
                        <a:t>Message Broker</a:t>
                      </a:r>
                    </a:p>
                  </a:txBody>
                  <a:tcPr>
                    <a:solidFill>
                      <a:srgbClr val="FFFFFF"/>
                    </a:solidFill>
                  </a:tcPr>
                </a:tc>
                <a:tc>
                  <a:txBody>
                    <a:bodyPr/>
                    <a:lstStyle/>
                    <a:p>
                      <a:pPr>
                        <a:defRPr sz="1100">
                          <a:solidFill>
                            <a:srgbClr val="475569"/>
                          </a:solidFill>
                        </a:defRPr>
                      </a:pPr>
                      <a:r>
                        <a:t>Apache Kafka</a:t>
                      </a:r>
                    </a:p>
                  </a:txBody>
                  <a:tcPr>
                    <a:solidFill>
                      <a:srgbClr val="FFFFFF"/>
                    </a:solidFill>
                  </a:tcPr>
                </a:tc>
                <a:tc>
                  <a:txBody>
                    <a:bodyPr/>
                    <a:lstStyle/>
                    <a:p>
                      <a:pPr>
                        <a:defRPr sz="1100">
                          <a:solidFill>
                            <a:srgbClr val="475569"/>
                          </a:solidFill>
                        </a:defRPr>
                      </a:pPr>
                      <a:r>
                        <a:t>High-throughput log stream that acts as a secure landing area for metrics.</a:t>
                      </a:r>
                    </a:p>
                  </a:txBody>
                  <a:tcPr>
                    <a:solidFill>
                      <a:srgbClr val="FFFFFF"/>
                    </a:solidFill>
                  </a:tcPr>
                </a:tc>
              </a:tr>
              <a:tr h="382385">
                <a:tc>
                  <a:txBody>
                    <a:bodyPr/>
                    <a:lstStyle/>
                    <a:p>
                      <a:pPr>
                        <a:defRPr sz="1100">
                          <a:solidFill>
                            <a:srgbClr val="475569"/>
                          </a:solidFill>
                        </a:defRPr>
                      </a:pPr>
                      <a:r>
                        <a:t>Relational DB</a:t>
                      </a:r>
                    </a:p>
                  </a:txBody>
                  <a:tcPr>
                    <a:solidFill>
                      <a:srgbClr val="F1F5F9"/>
                    </a:solidFill>
                  </a:tcPr>
                </a:tc>
                <a:tc>
                  <a:txBody>
                    <a:bodyPr/>
                    <a:lstStyle/>
                    <a:p>
                      <a:pPr>
                        <a:defRPr sz="1100">
                          <a:solidFill>
                            <a:srgbClr val="475569"/>
                          </a:solidFill>
                        </a:defRPr>
                      </a:pPr>
                      <a:r>
                        <a:t>PostgreSQL 16</a:t>
                      </a:r>
                    </a:p>
                  </a:txBody>
                  <a:tcPr>
                    <a:solidFill>
                      <a:srgbClr val="F1F5F9"/>
                    </a:solidFill>
                  </a:tcPr>
                </a:tc>
                <a:tc>
                  <a:txBody>
                    <a:bodyPr/>
                    <a:lstStyle/>
                    <a:p>
                      <a:pPr>
                        <a:defRPr sz="1100">
                          <a:solidFill>
                            <a:srgbClr val="475569"/>
                          </a:solidFill>
                        </a:defRPr>
                      </a:pPr>
                      <a:r>
                        <a:t>Used for transactional relational integrity (rules, states, active alarms).</a:t>
                      </a:r>
                    </a:p>
                  </a:txBody>
                  <a:tcPr>
                    <a:solidFill>
                      <a:srgbClr val="F1F5F9"/>
                    </a:solidFill>
                  </a:tcPr>
                </a:tc>
              </a:tr>
              <a:tr h="382385">
                <a:tc>
                  <a:txBody>
                    <a:bodyPr/>
                    <a:lstStyle/>
                    <a:p>
                      <a:pPr>
                        <a:defRPr sz="1100">
                          <a:solidFill>
                            <a:srgbClr val="475569"/>
                          </a:solidFill>
                        </a:defRPr>
                      </a:pPr>
                      <a:r>
                        <a:t>OLAP Database</a:t>
                      </a:r>
                    </a:p>
                  </a:txBody>
                  <a:tcPr>
                    <a:solidFill>
                      <a:srgbClr val="FFFFFF"/>
                    </a:solidFill>
                  </a:tcPr>
                </a:tc>
                <a:tc>
                  <a:txBody>
                    <a:bodyPr/>
                    <a:lstStyle/>
                    <a:p>
                      <a:pPr>
                        <a:defRPr sz="1100">
                          <a:solidFill>
                            <a:srgbClr val="475569"/>
                          </a:solidFill>
                        </a:defRPr>
                      </a:pPr>
                      <a:r>
                        <a:t>ClickHouse 23.8</a:t>
                      </a:r>
                    </a:p>
                  </a:txBody>
                  <a:tcPr>
                    <a:solidFill>
                      <a:srgbClr val="FFFFFF"/>
                    </a:solidFill>
                  </a:tcPr>
                </a:tc>
                <a:tc>
                  <a:txBody>
                    <a:bodyPr/>
                    <a:lstStyle/>
                    <a:p>
                      <a:pPr>
                        <a:defRPr sz="1100">
                          <a:solidFill>
                            <a:srgbClr val="475569"/>
                          </a:solidFill>
                        </a:defRPr>
                      </a:pPr>
                      <a:r>
                        <a:t>Fast column-oriented analytic store for high-volume metric trends.</a:t>
                      </a:r>
                    </a:p>
                  </a:txBody>
                  <a:tcPr>
                    <a:solidFill>
                      <a:srgbClr val="FFFFFF"/>
                    </a:solidFill>
                  </a:tcPr>
                </a:tc>
              </a:tr>
              <a:tr h="382385">
                <a:tc>
                  <a:txBody>
                    <a:bodyPr/>
                    <a:lstStyle/>
                    <a:p>
                      <a:pPr>
                        <a:defRPr sz="1100">
                          <a:solidFill>
                            <a:srgbClr val="475569"/>
                          </a:solidFill>
                        </a:defRPr>
                      </a:pPr>
                      <a:r>
                        <a:t>In-Memory Store</a:t>
                      </a:r>
                    </a:p>
                  </a:txBody>
                  <a:tcPr>
                    <a:solidFill>
                      <a:srgbClr val="F1F5F9"/>
                    </a:solidFill>
                  </a:tcPr>
                </a:tc>
                <a:tc>
                  <a:txBody>
                    <a:bodyPr/>
                    <a:lstStyle/>
                    <a:p>
                      <a:pPr>
                        <a:defRPr sz="1100">
                          <a:solidFill>
                            <a:srgbClr val="475569"/>
                          </a:solidFill>
                        </a:defRPr>
                      </a:pPr>
                      <a:r>
                        <a:t>Redis 7</a:t>
                      </a:r>
                    </a:p>
                  </a:txBody>
                  <a:tcPr>
                    <a:solidFill>
                      <a:srgbClr val="F1F5F9"/>
                    </a:solidFill>
                  </a:tcPr>
                </a:tc>
                <a:tc>
                  <a:txBody>
                    <a:bodyPr/>
                    <a:lstStyle/>
                    <a:p>
                      <a:pPr>
                        <a:defRPr sz="1100">
                          <a:solidFill>
                            <a:srgbClr val="475569"/>
                          </a:solidFill>
                        </a:defRPr>
                      </a:pPr>
                      <a:r>
                        <a:t>Extremely fast cache memory; handles transient websocket messaging.</a:t>
                      </a:r>
                    </a:p>
                  </a:txBody>
                  <a:tcPr>
                    <a:solidFill>
                      <a:srgbClr val="F1F5F9"/>
                    </a:solidFill>
                  </a:tcPr>
                </a:tc>
              </a:tr>
              <a:tr h="382385">
                <a:tc>
                  <a:txBody>
                    <a:bodyPr/>
                    <a:lstStyle/>
                    <a:p>
                      <a:pPr>
                        <a:defRPr sz="1100">
                          <a:solidFill>
                            <a:srgbClr val="475569"/>
                          </a:solidFill>
                        </a:defRPr>
                      </a:pPr>
                      <a:r>
                        <a:t>Websockets</a:t>
                      </a:r>
                    </a:p>
                  </a:txBody>
                  <a:tcPr>
                    <a:solidFill>
                      <a:srgbClr val="FFFFFF"/>
                    </a:solidFill>
                  </a:tcPr>
                </a:tc>
                <a:tc>
                  <a:txBody>
                    <a:bodyPr/>
                    <a:lstStyle/>
                    <a:p>
                      <a:pPr>
                        <a:defRPr sz="1100">
                          <a:solidFill>
                            <a:srgbClr val="475569"/>
                          </a:solidFill>
                        </a:defRPr>
                      </a:pPr>
                      <a:r>
                        <a:t>Socket.io</a:t>
                      </a:r>
                    </a:p>
                  </a:txBody>
                  <a:tcPr>
                    <a:solidFill>
                      <a:srgbClr val="FFFFFF"/>
                    </a:solidFill>
                  </a:tcPr>
                </a:tc>
                <a:tc>
                  <a:txBody>
                    <a:bodyPr/>
                    <a:lstStyle/>
                    <a:p>
                      <a:pPr>
                        <a:defRPr sz="1100">
                          <a:solidFill>
                            <a:srgbClr val="475569"/>
                          </a:solidFill>
                        </a:defRPr>
                      </a:pPr>
                      <a:r>
                        <a:t>Abstracts cross-browser connections and manages active client pipelines.</a:t>
                      </a:r>
                    </a:p>
                  </a:txBody>
                  <a:tcPr>
                    <a:solidFill>
                      <a:srgbClr val="FFFFFF"/>
                    </a:solidFill>
                  </a:tcPr>
                </a:tc>
              </a:tr>
              <a:tr h="382385">
                <a:tc>
                  <a:txBody>
                    <a:bodyPr/>
                    <a:lstStyle/>
                    <a:p>
                      <a:pPr>
                        <a:defRPr sz="1100">
                          <a:solidFill>
                            <a:srgbClr val="475569"/>
                          </a:solidFill>
                        </a:defRPr>
                      </a:pPr>
                      <a:r>
                        <a:t>Metric Charts</a:t>
                      </a:r>
                    </a:p>
                  </a:txBody>
                  <a:tcPr>
                    <a:solidFill>
                      <a:srgbClr val="F1F5F9"/>
                    </a:solidFill>
                  </a:tcPr>
                </a:tc>
                <a:tc>
                  <a:txBody>
                    <a:bodyPr/>
                    <a:lstStyle/>
                    <a:p>
                      <a:pPr>
                        <a:defRPr sz="1100">
                          <a:solidFill>
                            <a:srgbClr val="475569"/>
                          </a:solidFill>
                        </a:defRPr>
                      </a:pPr>
                      <a:r>
                        <a:t>Recharts Components</a:t>
                      </a:r>
                    </a:p>
                  </a:txBody>
                  <a:tcPr>
                    <a:solidFill>
                      <a:srgbClr val="F1F5F9"/>
                    </a:solidFill>
                  </a:tcPr>
                </a:tc>
                <a:tc>
                  <a:txBody>
                    <a:bodyPr/>
                    <a:lstStyle/>
                    <a:p>
                      <a:pPr>
                        <a:defRPr sz="1100">
                          <a:solidFill>
                            <a:srgbClr val="475569"/>
                          </a:solidFill>
                        </a:defRPr>
                      </a:pPr>
                      <a:r>
                        <a:t>Highly responsive declarative graphs compatible with Next.js dashboards.</a:t>
                      </a:r>
                    </a:p>
                  </a:txBody>
                  <a:tcPr>
                    <a:solidFill>
                      <a:srgbClr val="F1F5F9"/>
                    </a:solidFill>
                  </a:tcPr>
                </a:tc>
              </a:tr>
              <a:tr h="382390">
                <a:tc>
                  <a:txBody>
                    <a:bodyPr/>
                    <a:lstStyle/>
                    <a:p>
                      <a:pPr>
                        <a:defRPr sz="1100">
                          <a:solidFill>
                            <a:srgbClr val="475569"/>
                          </a:solidFill>
                        </a:defRPr>
                      </a:pPr>
                      <a:r>
                        <a:t>Infrastructure</a:t>
                      </a:r>
                    </a:p>
                  </a:txBody>
                  <a:tcPr>
                    <a:solidFill>
                      <a:srgbClr val="FFFFFF"/>
                    </a:solidFill>
                  </a:tcPr>
                </a:tc>
                <a:tc>
                  <a:txBody>
                    <a:bodyPr/>
                    <a:lstStyle/>
                    <a:p>
                      <a:pPr>
                        <a:defRPr sz="1100">
                          <a:solidFill>
                            <a:srgbClr val="475569"/>
                          </a:solidFill>
                        </a:defRPr>
                      </a:pPr>
                      <a:r>
                        <a:t>Docker &amp; Compose</a:t>
                      </a:r>
                    </a:p>
                  </a:txBody>
                  <a:tcPr>
                    <a:solidFill>
                      <a:srgbClr val="FFFFFF"/>
                    </a:solidFill>
                  </a:tcPr>
                </a:tc>
                <a:tc>
                  <a:txBody>
                    <a:bodyPr/>
                    <a:lstStyle/>
                    <a:p>
                      <a:pPr>
                        <a:defRPr sz="1100">
                          <a:solidFill>
                            <a:srgbClr val="475569"/>
                          </a:solidFill>
                        </a:defRPr>
                      </a:pPr>
                      <a:r>
                        <a:t>Encapsulates environments inside standardized containers for deployment.</a:t>
                      </a:r>
                    </a:p>
                  </a:txBody>
                  <a:tcPr>
                    <a:solidFill>
                      <a:srgbClr val="FFFFFF"/>
                    </a:solidFill>
                  </a:tcPr>
                </a:tc>
              </a:tr>
            </a:tbl>
          </a:graphicData>
        </a:graphic>
      </p:graphicFrame>
      <p:sp>
        <p:nvSpPr>
          <p:cNvPr id="6" name="TextBox 5"/>
          <p:cNvSpPr txBox="1"/>
          <p:nvPr/>
        </p:nvSpPr>
        <p:spPr>
          <a:xfrm>
            <a:off x="822960" y="6217920"/>
            <a:ext cx="10545775" cy="365760"/>
          </a:xfrm>
          <a:prstGeom prst="rect">
            <a:avLst/>
          </a:prstGeom>
          <a:noFill/>
        </p:spPr>
        <p:txBody>
          <a:bodyPr wrap="none">
            <a:spAutoFit/>
          </a:bodyPr>
          <a:lstStyle/>
          <a:p>
            <a:pPr>
              <a:defRPr sz="1100">
                <a:solidFill>
                  <a:srgbClr val="475569"/>
                </a:solidFill>
                <a:latin typeface="Arial"/>
              </a:defRPr>
            </a:pPr>
            <a:r>
              <a:t>ISRO • ISTRAC LUCKNOW</a:t>
            </a:r>
          </a:p>
          <a:p>
            <a:pPr algn="r">
              <a:defRPr sz="1100">
                <a:solidFill>
                  <a:srgbClr val="475569"/>
                </a:solidFill>
                <a:latin typeface="Arial"/>
              </a:defRPr>
            </a:pPr>
            <a:r>
              <a:t>Slide 9 / 28</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457200"/>
            <a:ext cx="10545775" cy="914400"/>
          </a:xfrm>
          <a:prstGeom prst="rect">
            <a:avLst/>
          </a:prstGeom>
          <a:noFill/>
        </p:spPr>
        <p:txBody>
          <a:bodyPr wrap="square" lIns="0" tIns="0" rIns="0" bIns="0">
            <a:spAutoFit/>
          </a:bodyPr>
          <a:lstStyle/>
          <a:p>
            <a:pPr>
              <a:defRPr sz="3200" b="1">
                <a:solidFill>
                  <a:srgbClr val="0F172A"/>
                </a:solidFill>
                <a:latin typeface="Arial"/>
              </a:defRPr>
            </a:pPr>
            <a:r>
              <a:t>Microservices Architectural Design</a:t>
            </a:r>
          </a:p>
        </p:txBody>
      </p:sp>
      <p:sp>
        <p:nvSpPr>
          <p:cNvPr id="4" name="Rectangle 3"/>
          <p:cNvSpPr/>
          <p:nvPr/>
        </p:nvSpPr>
        <p:spPr>
          <a:xfrm>
            <a:off x="822960" y="1280160"/>
            <a:ext cx="10545775" cy="27432"/>
          </a:xfrm>
          <a:prstGeom prst="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822960" y="1737360"/>
          <a:ext cx="10545775" cy="3931920"/>
        </p:xfrm>
        <a:graphic>
          <a:graphicData uri="http://schemas.openxmlformats.org/drawingml/2006/table">
            <a:tbl>
              <a:tblPr firstRow="1" bandRow="1">
                <a:tableStyleId>{5C22544A-7EE6-4342-B048-85BDC9FD1C3A}</a:tableStyleId>
              </a:tblPr>
              <a:tblGrid>
                <a:gridCol w="2103120"/>
                <a:gridCol w="1371600"/>
                <a:gridCol w="2103120"/>
                <a:gridCol w="4967935"/>
              </a:tblGrid>
              <a:tr h="655320">
                <a:tc>
                  <a:txBody>
                    <a:bodyPr/>
                    <a:lstStyle/>
                    <a:p>
                      <a:pPr>
                        <a:defRPr b="1" sz="1300">
                          <a:solidFill>
                            <a:srgbClr val="FFFFFF"/>
                          </a:solidFill>
                        </a:defRPr>
                      </a:pPr>
                      <a:r>
                        <a:t>Microservice Name</a:t>
                      </a:r>
                    </a:p>
                  </a:txBody>
                  <a:tcPr>
                    <a:solidFill>
                      <a:srgbClr val="0A0F1D"/>
                    </a:solidFill>
                  </a:tcPr>
                </a:tc>
                <a:tc>
                  <a:txBody>
                    <a:bodyPr/>
                    <a:lstStyle/>
                    <a:p>
                      <a:pPr>
                        <a:defRPr b="1" sz="1300">
                          <a:solidFill>
                            <a:srgbClr val="FFFFFF"/>
                          </a:solidFill>
                        </a:defRPr>
                      </a:pPr>
                      <a:r>
                        <a:t>Port Assignment</a:t>
                      </a:r>
                    </a:p>
                  </a:txBody>
                  <a:tcPr>
                    <a:solidFill>
                      <a:srgbClr val="0A0F1D"/>
                    </a:solidFill>
                  </a:tcPr>
                </a:tc>
                <a:tc>
                  <a:txBody>
                    <a:bodyPr/>
                    <a:lstStyle/>
                    <a:p>
                      <a:pPr>
                        <a:defRPr b="1" sz="1300">
                          <a:solidFill>
                            <a:srgbClr val="FFFFFF"/>
                          </a:solidFill>
                        </a:defRPr>
                      </a:pPr>
                      <a:r>
                        <a:t>Architectural Role</a:t>
                      </a:r>
                    </a:p>
                  </a:txBody>
                  <a:tcPr>
                    <a:solidFill>
                      <a:srgbClr val="0A0F1D"/>
                    </a:solidFill>
                  </a:tcPr>
                </a:tc>
                <a:tc>
                  <a:txBody>
                    <a:bodyPr/>
                    <a:lstStyle/>
                    <a:p>
                      <a:pPr>
                        <a:defRPr b="1" sz="1300">
                          <a:solidFill>
                            <a:srgbClr val="FFFFFF"/>
                          </a:solidFill>
                        </a:defRPr>
                      </a:pPr>
                      <a:r>
                        <a:t>Service Responsibility</a:t>
                      </a:r>
                    </a:p>
                  </a:txBody>
                  <a:tcPr>
                    <a:solidFill>
                      <a:srgbClr val="0A0F1D"/>
                    </a:solidFill>
                  </a:tcPr>
                </a:tc>
              </a:tr>
              <a:tr h="655320">
                <a:tc>
                  <a:txBody>
                    <a:bodyPr/>
                    <a:lstStyle/>
                    <a:p>
                      <a:pPr>
                        <a:defRPr sz="1100">
                          <a:solidFill>
                            <a:srgbClr val="475569"/>
                          </a:solidFill>
                        </a:defRPr>
                      </a:pPr>
                      <a:r>
                        <a:t>agent-api</a:t>
                      </a:r>
                    </a:p>
                  </a:txBody>
                  <a:tcPr>
                    <a:solidFill>
                      <a:srgbClr val="F1F5F9"/>
                    </a:solidFill>
                  </a:tcPr>
                </a:tc>
                <a:tc>
                  <a:txBody>
                    <a:bodyPr/>
                    <a:lstStyle/>
                    <a:p>
                      <a:pPr>
                        <a:defRPr sz="1100">
                          <a:solidFill>
                            <a:srgbClr val="475569"/>
                          </a:solidFill>
                        </a:defRPr>
                      </a:pPr>
                      <a:r>
                        <a:t>Port 4000</a:t>
                      </a:r>
                    </a:p>
                  </a:txBody>
                  <a:tcPr>
                    <a:solidFill>
                      <a:srgbClr val="F1F5F9"/>
                    </a:solidFill>
                  </a:tcPr>
                </a:tc>
                <a:tc>
                  <a:txBody>
                    <a:bodyPr/>
                    <a:lstStyle/>
                    <a:p>
                      <a:pPr>
                        <a:defRPr sz="1100">
                          <a:solidFill>
                            <a:srgbClr val="475569"/>
                          </a:solidFill>
                        </a:defRPr>
                      </a:pPr>
                      <a:r>
                        <a:t>Ingestion Boundary</a:t>
                      </a:r>
                    </a:p>
                  </a:txBody>
                  <a:tcPr>
                    <a:solidFill>
                      <a:srgbClr val="F1F5F9"/>
                    </a:solidFill>
                  </a:tcPr>
                </a:tc>
                <a:tc>
                  <a:txBody>
                    <a:bodyPr/>
                    <a:lstStyle/>
                    <a:p>
                      <a:pPr>
                        <a:defRPr sz="1100">
                          <a:solidFill>
                            <a:srgbClr val="475569"/>
                          </a:solidFill>
                        </a:defRPr>
                      </a:pPr>
                      <a:r>
                        <a:t>Authenticates external client requests; publishes parsed metrics directly to Kafka.</a:t>
                      </a:r>
                    </a:p>
                  </a:txBody>
                  <a:tcPr>
                    <a:solidFill>
                      <a:srgbClr val="F1F5F9"/>
                    </a:solidFill>
                  </a:tcPr>
                </a:tc>
              </a:tr>
              <a:tr h="655320">
                <a:tc>
                  <a:txBody>
                    <a:bodyPr/>
                    <a:lstStyle/>
                    <a:p>
                      <a:pPr>
                        <a:defRPr sz="1100">
                          <a:solidFill>
                            <a:srgbClr val="475569"/>
                          </a:solidFill>
                        </a:defRPr>
                      </a:pPr>
                      <a:r>
                        <a:t>auth-api</a:t>
                      </a:r>
                    </a:p>
                  </a:txBody>
                  <a:tcPr>
                    <a:solidFill>
                      <a:srgbClr val="FFFFFF"/>
                    </a:solidFill>
                  </a:tcPr>
                </a:tc>
                <a:tc>
                  <a:txBody>
                    <a:bodyPr/>
                    <a:lstStyle/>
                    <a:p>
                      <a:pPr>
                        <a:defRPr sz="1100">
                          <a:solidFill>
                            <a:srgbClr val="475569"/>
                          </a:solidFill>
                        </a:defRPr>
                      </a:pPr>
                      <a:r>
                        <a:t>Port 4002</a:t>
                      </a:r>
                    </a:p>
                  </a:txBody>
                  <a:tcPr>
                    <a:solidFill>
                      <a:srgbClr val="FFFFFF"/>
                    </a:solidFill>
                  </a:tcPr>
                </a:tc>
                <a:tc>
                  <a:txBody>
                    <a:bodyPr/>
                    <a:lstStyle/>
                    <a:p>
                      <a:pPr>
                        <a:defRPr sz="1100">
                          <a:solidFill>
                            <a:srgbClr val="475569"/>
                          </a:solidFill>
                        </a:defRPr>
                      </a:pPr>
                      <a:r>
                        <a:t>Control Plane Service</a:t>
                      </a:r>
                    </a:p>
                  </a:txBody>
                  <a:tcPr>
                    <a:solidFill>
                      <a:srgbClr val="FFFFFF"/>
                    </a:solidFill>
                  </a:tcPr>
                </a:tc>
                <a:tc>
                  <a:txBody>
                    <a:bodyPr/>
                    <a:lstStyle/>
                    <a:p>
                      <a:pPr>
                        <a:defRPr sz="1100">
                          <a:solidFill>
                            <a:srgbClr val="475569"/>
                          </a:solidFill>
                        </a:defRPr>
                      </a:pPr>
                      <a:r>
                        <a:t>Manages credentials, registers host configurations, and handles manual alerts.</a:t>
                      </a:r>
                    </a:p>
                  </a:txBody>
                  <a:tcPr>
                    <a:solidFill>
                      <a:srgbClr val="FFFFFF"/>
                    </a:solidFill>
                  </a:tcPr>
                </a:tc>
              </a:tr>
              <a:tr h="655320">
                <a:tc>
                  <a:txBody>
                    <a:bodyPr/>
                    <a:lstStyle/>
                    <a:p>
                      <a:pPr>
                        <a:defRPr sz="1100">
                          <a:solidFill>
                            <a:srgbClr val="475569"/>
                          </a:solidFill>
                        </a:defRPr>
                      </a:pPr>
                      <a:r>
                        <a:t>metrics-processor</a:t>
                      </a:r>
                    </a:p>
                  </a:txBody>
                  <a:tcPr>
                    <a:solidFill>
                      <a:srgbClr val="F1F5F9"/>
                    </a:solidFill>
                  </a:tcPr>
                </a:tc>
                <a:tc>
                  <a:txBody>
                    <a:bodyPr/>
                    <a:lstStyle/>
                    <a:p>
                      <a:pPr>
                        <a:defRPr sz="1100">
                          <a:solidFill>
                            <a:srgbClr val="475569"/>
                          </a:solidFill>
                        </a:defRPr>
                      </a:pPr>
                      <a:r>
                        <a:t>Internal Daemon</a:t>
                      </a:r>
                    </a:p>
                  </a:txBody>
                  <a:tcPr>
                    <a:solidFill>
                      <a:srgbClr val="F1F5F9"/>
                    </a:solidFill>
                  </a:tcPr>
                </a:tc>
                <a:tc>
                  <a:txBody>
                    <a:bodyPr/>
                    <a:lstStyle/>
                    <a:p>
                      <a:pPr>
                        <a:defRPr sz="1100">
                          <a:solidFill>
                            <a:srgbClr val="475569"/>
                          </a:solidFill>
                        </a:defRPr>
                      </a:pPr>
                      <a:r>
                        <a:t>Queue Consumer</a:t>
                      </a:r>
                    </a:p>
                  </a:txBody>
                  <a:tcPr>
                    <a:solidFill>
                      <a:srgbClr val="F1F5F9"/>
                    </a:solidFill>
                  </a:tcPr>
                </a:tc>
                <a:tc>
                  <a:txBody>
                    <a:bodyPr/>
                    <a:lstStyle/>
                    <a:p>
                      <a:pPr>
                        <a:defRPr sz="1100">
                          <a:solidFill>
                            <a:srgbClr val="475569"/>
                          </a:solidFill>
                        </a:defRPr>
                      </a:pPr>
                      <a:r>
                        <a:t>Reads from the message broker, executes alerts, and coordinates DB writes.</a:t>
                      </a:r>
                    </a:p>
                  </a:txBody>
                  <a:tcPr>
                    <a:solidFill>
                      <a:srgbClr val="F1F5F9"/>
                    </a:solidFill>
                  </a:tcPr>
                </a:tc>
              </a:tr>
              <a:tr h="655320">
                <a:tc>
                  <a:txBody>
                    <a:bodyPr/>
                    <a:lstStyle/>
                    <a:p>
                      <a:pPr>
                        <a:defRPr sz="1100">
                          <a:solidFill>
                            <a:srgbClr val="475569"/>
                          </a:solidFill>
                        </a:defRPr>
                      </a:pPr>
                      <a:r>
                        <a:t>ws-gateway</a:t>
                      </a:r>
                    </a:p>
                  </a:txBody>
                  <a:tcPr>
                    <a:solidFill>
                      <a:srgbClr val="FFFFFF"/>
                    </a:solidFill>
                  </a:tcPr>
                </a:tc>
                <a:tc>
                  <a:txBody>
                    <a:bodyPr/>
                    <a:lstStyle/>
                    <a:p>
                      <a:pPr>
                        <a:defRPr sz="1100">
                          <a:solidFill>
                            <a:srgbClr val="475569"/>
                          </a:solidFill>
                        </a:defRPr>
                      </a:pPr>
                      <a:r>
                        <a:t>Port 4001</a:t>
                      </a:r>
                    </a:p>
                  </a:txBody>
                  <a:tcPr>
                    <a:solidFill>
                      <a:srgbClr val="FFFFFF"/>
                    </a:solidFill>
                  </a:tcPr>
                </a:tc>
                <a:tc>
                  <a:txBody>
                    <a:bodyPr/>
                    <a:lstStyle/>
                    <a:p>
                      <a:pPr>
                        <a:defRPr sz="1100">
                          <a:solidFill>
                            <a:srgbClr val="475569"/>
                          </a:solidFill>
                        </a:defRPr>
                      </a:pPr>
                      <a:r>
                        <a:t>Real-Time Broadcaster</a:t>
                      </a:r>
                    </a:p>
                  </a:txBody>
                  <a:tcPr>
                    <a:solidFill>
                      <a:srgbClr val="FFFFFF"/>
                    </a:solidFill>
                  </a:tcPr>
                </a:tc>
                <a:tc>
                  <a:txBody>
                    <a:bodyPr/>
                    <a:lstStyle/>
                    <a:p>
                      <a:pPr>
                        <a:defRPr sz="1100">
                          <a:solidFill>
                            <a:srgbClr val="475569"/>
                          </a:solidFill>
                        </a:defRPr>
                      </a:pPr>
                      <a:r>
                        <a:t>Maintains active client connections and broadcasts live status changes.</a:t>
                      </a:r>
                    </a:p>
                  </a:txBody>
                  <a:tcPr>
                    <a:solidFill>
                      <a:srgbClr val="FFFFFF"/>
                    </a:solidFill>
                  </a:tcPr>
                </a:tc>
              </a:tr>
              <a:tr h="655320">
                <a:tc>
                  <a:txBody>
                    <a:bodyPr/>
                    <a:lstStyle/>
                    <a:p>
                      <a:pPr>
                        <a:defRPr sz="1100">
                          <a:solidFill>
                            <a:srgbClr val="475569"/>
                          </a:solidFill>
                        </a:defRPr>
                      </a:pPr>
                      <a:r>
                        <a:t>monitoring-agent</a:t>
                      </a:r>
                    </a:p>
                  </a:txBody>
                  <a:tcPr>
                    <a:solidFill>
                      <a:srgbClr val="F1F5F9"/>
                    </a:solidFill>
                  </a:tcPr>
                </a:tc>
                <a:tc>
                  <a:txBody>
                    <a:bodyPr/>
                    <a:lstStyle/>
                    <a:p>
                      <a:pPr>
                        <a:defRPr sz="1100">
                          <a:solidFill>
                            <a:srgbClr val="475569"/>
                          </a:solidFill>
                        </a:defRPr>
                      </a:pPr>
                      <a:r>
                        <a:t>Local Client</a:t>
                      </a:r>
                    </a:p>
                  </a:txBody>
                  <a:tcPr>
                    <a:solidFill>
                      <a:srgbClr val="F1F5F9"/>
                    </a:solidFill>
                  </a:tcPr>
                </a:tc>
                <a:tc>
                  <a:txBody>
                    <a:bodyPr/>
                    <a:lstStyle/>
                    <a:p>
                      <a:pPr>
                        <a:defRPr sz="1100">
                          <a:solidFill>
                            <a:srgbClr val="475569"/>
                          </a:solidFill>
                        </a:defRPr>
                      </a:pPr>
                      <a:r>
                        <a:t>Hardware Collector</a:t>
                      </a:r>
                    </a:p>
                  </a:txBody>
                  <a:tcPr>
                    <a:solidFill>
                      <a:srgbClr val="F1F5F9"/>
                    </a:solidFill>
                  </a:tcPr>
                </a:tc>
                <a:tc>
                  <a:txBody>
                    <a:bodyPr/>
                    <a:lstStyle/>
                    <a:p>
                      <a:pPr>
                        <a:defRPr sz="1100">
                          <a:solidFill>
                            <a:srgbClr val="475569"/>
                          </a:solidFill>
                        </a:defRPr>
                      </a:pPr>
                      <a:r>
                        <a:t>A client script that executes OS-level queries and uploads JSON payloads.</a:t>
                      </a:r>
                    </a:p>
                  </a:txBody>
                  <a:tcPr>
                    <a:solidFill>
                      <a:srgbClr val="F1F5F9"/>
                    </a:solidFill>
                  </a:tcPr>
                </a:tc>
              </a:tr>
            </a:tbl>
          </a:graphicData>
        </a:graphic>
      </p:graphicFrame>
      <p:sp>
        <p:nvSpPr>
          <p:cNvPr id="6" name="TextBox 5"/>
          <p:cNvSpPr txBox="1"/>
          <p:nvPr/>
        </p:nvSpPr>
        <p:spPr>
          <a:xfrm>
            <a:off x="822960" y="6217920"/>
            <a:ext cx="10545775" cy="365760"/>
          </a:xfrm>
          <a:prstGeom prst="rect">
            <a:avLst/>
          </a:prstGeom>
          <a:noFill/>
        </p:spPr>
        <p:txBody>
          <a:bodyPr wrap="none">
            <a:spAutoFit/>
          </a:bodyPr>
          <a:lstStyle/>
          <a:p>
            <a:pPr>
              <a:defRPr sz="1100">
                <a:solidFill>
                  <a:srgbClr val="475569"/>
                </a:solidFill>
                <a:latin typeface="Arial"/>
              </a:defRPr>
            </a:pPr>
            <a:r>
              <a:t>ISRO • ISTRAC LUCKNOW</a:t>
            </a:r>
          </a:p>
          <a:p>
            <a:pPr algn="r">
              <a:defRPr sz="1100">
                <a:solidFill>
                  <a:srgbClr val="475569"/>
                </a:solidFill>
                <a:latin typeface="Arial"/>
              </a:defRPr>
            </a:pPr>
            <a:r>
              <a:t>Slide 10 / 28</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457200"/>
            <a:ext cx="10545775" cy="914400"/>
          </a:xfrm>
          <a:prstGeom prst="rect">
            <a:avLst/>
          </a:prstGeom>
          <a:noFill/>
        </p:spPr>
        <p:txBody>
          <a:bodyPr wrap="square" lIns="0" tIns="0" rIns="0" bIns="0">
            <a:spAutoFit/>
          </a:bodyPr>
          <a:lstStyle/>
          <a:p>
            <a:pPr>
              <a:defRPr sz="3200" b="1">
                <a:solidFill>
                  <a:srgbClr val="0F172A"/>
                </a:solidFill>
                <a:latin typeface="Arial"/>
              </a:defRPr>
            </a:pPr>
            <a:r>
              <a:t>Database Design: PostgreSQL &amp; ClickHouse</a:t>
            </a:r>
          </a:p>
        </p:txBody>
      </p:sp>
      <p:sp>
        <p:nvSpPr>
          <p:cNvPr id="4" name="Rectangle 3"/>
          <p:cNvSpPr/>
          <p:nvPr/>
        </p:nvSpPr>
        <p:spPr>
          <a:xfrm>
            <a:off x="822960" y="1280160"/>
            <a:ext cx="10545775" cy="27432"/>
          </a:xfrm>
          <a:prstGeom prst="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22960" y="1737360"/>
            <a:ext cx="5029200" cy="3931920"/>
          </a:xfrm>
          <a:prstGeom prst="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400">
                <a:solidFill>
                  <a:srgbClr val="0F172A"/>
                </a:solidFill>
              </a:defRPr>
            </a:pPr>
            <a:r>
              <a:t>POSTGRESQL 16: STATE ENGINE</a:t>
            </a:r>
          </a:p>
          <a:p>
            <a:pPr>
              <a:spcBef>
                <a:spcPts val="1200"/>
              </a:spcBef>
              <a:defRPr sz="1300">
                <a:solidFill>
                  <a:srgbClr val="475569"/>
                </a:solidFill>
              </a:defRPr>
            </a:pPr>
            <a:r>
              <a:t>• Structured tables: users, hosts, alert rules, active problems, metric configurations.</a:t>
            </a:r>
          </a:p>
          <a:p>
            <a:pPr>
              <a:spcBef>
                <a:spcPts val="1200"/>
              </a:spcBef>
              <a:defRPr sz="1300">
                <a:solidFill>
                  <a:srgbClr val="475569"/>
                </a:solidFill>
              </a:defRPr>
            </a:pPr>
            <a:r>
              <a:t>• Monthly partition models on system readings prevent storage growth from affecting queries.</a:t>
            </a:r>
          </a:p>
          <a:p>
            <a:pPr>
              <a:spcBef>
                <a:spcPts val="1200"/>
              </a:spcBef>
              <a:defRPr sz="1300">
                <a:solidFill>
                  <a:srgbClr val="475569"/>
                </a:solidFill>
              </a:defRPr>
            </a:pPr>
            <a:r>
              <a:t>• Leverages native database JSONB fields to house host metadata, alerting rules, and contacts.</a:t>
            </a:r>
          </a:p>
        </p:txBody>
      </p:sp>
      <p:sp>
        <p:nvSpPr>
          <p:cNvPr id="6" name="Rectangle 5"/>
          <p:cNvSpPr/>
          <p:nvPr/>
        </p:nvSpPr>
        <p:spPr>
          <a:xfrm>
            <a:off x="6309360" y="1737360"/>
            <a:ext cx="5029200" cy="3931920"/>
          </a:xfrm>
          <a:prstGeom prst="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400">
                <a:solidFill>
                  <a:srgbClr val="2563EB"/>
                </a:solidFill>
              </a:defRPr>
            </a:pPr>
            <a:r>
              <a:t>CLICKHOUSE: ANALYTICS STORE</a:t>
            </a:r>
          </a:p>
          <a:p>
            <a:pPr>
              <a:spcBef>
                <a:spcPts val="1200"/>
              </a:spcBef>
              <a:defRPr sz="1300">
                <a:solidFill>
                  <a:srgbClr val="475569"/>
                </a:solidFill>
              </a:defRPr>
            </a:pPr>
            <a:r>
              <a:t>• A highly efficient column-oriented store designed for large analytical datasets.</a:t>
            </a:r>
          </a:p>
          <a:p>
            <a:pPr>
              <a:spcBef>
                <a:spcPts val="1200"/>
              </a:spcBef>
              <a:defRPr sz="1300">
                <a:solidFill>
                  <a:srgbClr val="475569"/>
                </a:solidFill>
              </a:defRPr>
            </a:pPr>
            <a:r>
              <a:t>• Raw telemetry values are stored using schemas with custom delta compression.</a:t>
            </a:r>
          </a:p>
          <a:p>
            <a:pPr>
              <a:spcBef>
                <a:spcPts val="1200"/>
              </a:spcBef>
              <a:defRPr sz="1300">
                <a:solidFill>
                  <a:srgbClr val="475569"/>
                </a:solidFill>
              </a:defRPr>
            </a:pPr>
            <a:r>
              <a:t>• Materialized views automate background computations for hourly and daily trend graphs.</a:t>
            </a:r>
          </a:p>
        </p:txBody>
      </p:sp>
      <p:sp>
        <p:nvSpPr>
          <p:cNvPr id="7" name="TextBox 6"/>
          <p:cNvSpPr txBox="1"/>
          <p:nvPr/>
        </p:nvSpPr>
        <p:spPr>
          <a:xfrm>
            <a:off x="822960" y="6217920"/>
            <a:ext cx="10545775" cy="365760"/>
          </a:xfrm>
          <a:prstGeom prst="rect">
            <a:avLst/>
          </a:prstGeom>
          <a:noFill/>
        </p:spPr>
        <p:txBody>
          <a:bodyPr wrap="none">
            <a:spAutoFit/>
          </a:bodyPr>
          <a:lstStyle/>
          <a:p>
            <a:pPr>
              <a:defRPr sz="1100">
                <a:solidFill>
                  <a:srgbClr val="475569"/>
                </a:solidFill>
                <a:latin typeface="Arial"/>
              </a:defRPr>
            </a:pPr>
            <a:r>
              <a:t>ISRO • ISTRAC LUCKNOW</a:t>
            </a:r>
          </a:p>
          <a:p>
            <a:pPr algn="r">
              <a:defRPr sz="1100">
                <a:solidFill>
                  <a:srgbClr val="475569"/>
                </a:solidFill>
                <a:latin typeface="Arial"/>
              </a:defRPr>
            </a:pPr>
            <a:r>
              <a:t>Slide 11 / 28</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457200"/>
            <a:ext cx="10545775" cy="914400"/>
          </a:xfrm>
          <a:prstGeom prst="rect">
            <a:avLst/>
          </a:prstGeom>
          <a:noFill/>
        </p:spPr>
        <p:txBody>
          <a:bodyPr wrap="square" lIns="0" tIns="0" rIns="0" bIns="0">
            <a:spAutoFit/>
          </a:bodyPr>
          <a:lstStyle/>
          <a:p>
            <a:pPr>
              <a:defRPr sz="3200" b="1">
                <a:solidFill>
                  <a:srgbClr val="0F172A"/>
                </a:solidFill>
                <a:latin typeface="Arial"/>
              </a:defRPr>
            </a:pPr>
            <a:r>
              <a:t>The Zero-Dependency Host Agent</a:t>
            </a:r>
          </a:p>
        </p:txBody>
      </p:sp>
      <p:sp>
        <p:nvSpPr>
          <p:cNvPr id="4" name="Rectangle 3"/>
          <p:cNvSpPr/>
          <p:nvPr/>
        </p:nvSpPr>
        <p:spPr>
          <a:xfrm>
            <a:off x="822960" y="1280160"/>
            <a:ext cx="10545775" cy="27432"/>
          </a:xfrm>
          <a:prstGeom prst="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737360"/>
            <a:ext cx="5029200" cy="4114800"/>
          </a:xfrm>
          <a:prstGeom prst="rect">
            <a:avLst/>
          </a:prstGeom>
          <a:noFill/>
        </p:spPr>
        <p:txBody>
          <a:bodyPr wrap="square" lIns="0" tIns="0" rIns="0" bIns="0">
            <a:spAutoFit/>
          </a:bodyPr>
          <a:lstStyle/>
          <a:p>
            <a:pPr>
              <a:spcAft>
                <a:spcPts val="1200"/>
              </a:spcAft>
              <a:defRPr sz="1600">
                <a:solidFill>
                  <a:srgbClr val="475569"/>
                </a:solidFill>
                <a:latin typeface="Arial"/>
              </a:defRPr>
            </a:pPr>
            <a:r>
              <a:t>•  Written in plain JavaScript using built-in Node.js libraries (os, fs, child_process, net, http).</a:t>
            </a:r>
          </a:p>
          <a:p>
            <a:pPr>
              <a:spcAft>
                <a:spcPts val="1200"/>
              </a:spcAft>
              <a:defRPr sz="1600">
                <a:solidFill>
                  <a:srgbClr val="475569"/>
                </a:solidFill>
                <a:latin typeface="Arial"/>
              </a:defRPr>
            </a:pPr>
            <a:r>
              <a:t>•  Zero reliance on third-party packages, preventing module drift and security risks.</a:t>
            </a:r>
          </a:p>
          <a:p>
            <a:pPr>
              <a:spcAft>
                <a:spcPts val="1200"/>
              </a:spcAft>
              <a:defRPr sz="1600">
                <a:solidFill>
                  <a:srgbClr val="475569"/>
                </a:solidFill>
                <a:latin typeface="Arial"/>
              </a:defRPr>
            </a:pPr>
            <a:r>
              <a:t>•  Calculates CPU performance by measuring multi-core scheduler loops over 100ms periods.</a:t>
            </a:r>
          </a:p>
          <a:p>
            <a:pPr>
              <a:spcAft>
                <a:spcPts val="1200"/>
              </a:spcAft>
              <a:defRPr sz="1600">
                <a:solidFill>
                  <a:srgbClr val="475569"/>
                </a:solidFill>
                <a:latin typeface="Arial"/>
              </a:defRPr>
            </a:pPr>
            <a:r>
              <a:t>•  Abstracts OS differences by routing queries through platform-specific CLI loops.</a:t>
            </a:r>
          </a:p>
          <a:p>
            <a:pPr>
              <a:spcAft>
                <a:spcPts val="1200"/>
              </a:spcAft>
              <a:defRPr sz="1600">
                <a:solidFill>
                  <a:srgbClr val="475569"/>
                </a:solidFill>
                <a:latin typeface="Arial"/>
              </a:defRPr>
            </a:pPr>
            <a:r>
              <a:t>•  Monitors TCP ports directly to verify database, web, and internal network services.</a:t>
            </a:r>
          </a:p>
        </p:txBody>
      </p:sp>
      <p:sp>
        <p:nvSpPr>
          <p:cNvPr id="6" name="Rounded Rectangle 5"/>
          <p:cNvSpPr/>
          <p:nvPr/>
        </p:nvSpPr>
        <p:spPr>
          <a:xfrm>
            <a:off x="6400800" y="1737360"/>
            <a:ext cx="4937760" cy="3931920"/>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400">
                <a:solidFill>
                  <a:srgbClr val="2563EB"/>
                </a:solidFill>
              </a:defRPr>
            </a:pPr>
            <a:r>
              <a:t>AGENT RUNTIME PROCESS</a:t>
            </a:r>
          </a:p>
          <a:p>
            <a:pPr>
              <a:spcBef>
                <a:spcPts val="1200"/>
              </a:spcBef>
              <a:defRPr sz="1100">
                <a:solidFill>
                  <a:srgbClr val="475569"/>
                </a:solidFill>
                <a:latin typeface="Courier New"/>
              </a:defRPr>
            </a:pPr>
            <a:r>
              <a:t> [Start Lifecycle]</a:t>
            </a:r>
            <a:br/>
            <a:r>
              <a:t>         |</a:t>
            </a:r>
            <a:br/>
            <a:r>
              <a:t>         v</a:t>
            </a:r>
            <a:br/>
            <a:r>
              <a:t> [Verify Security Keys] -&gt; [Register with Core API]</a:t>
            </a:r>
            <a:br/>
            <a:r>
              <a:t>                                   |</a:t>
            </a:r>
            <a:br/>
            <a:r>
              <a:t>        +--------------------------+--------------------------+</a:t>
            </a:r>
            <a:br/>
            <a:r>
              <a:t>        | (T = 10s)                                           | (T = 30s)</a:t>
            </a:r>
            <a:br/>
            <a:r>
              <a:t>        v                                                     v</a:t>
            </a:r>
            <a:br/>
            <a:r>
              <a:t> [Send Heartbeat Payload]                             [Query Hardware Metrics]</a:t>
            </a:r>
            <a:br/>
            <a:r>
              <a:t>        |                                                     | (CPU, Disk, Net)</a:t>
            </a:r>
            <a:br/>
            <a:r>
              <a:t>        |                                                     v</a:t>
            </a:r>
            <a:br/>
            <a:r>
              <a:t>        +--------------------------&lt;------------------ [Assemble &amp; Post JSON]</a:t>
            </a:r>
            <a:br/>
            <a:r>
              <a:t>                                                              |</a:t>
            </a:r>
            <a:br/>
            <a:r>
              <a:t>                                                              v</a:t>
            </a:r>
            <a:br/>
            <a:r>
              <a:t>                                                    [Retry with Backoff on Fail]</a:t>
            </a:r>
          </a:p>
        </p:txBody>
      </p:sp>
      <p:sp>
        <p:nvSpPr>
          <p:cNvPr id="7" name="TextBox 6"/>
          <p:cNvSpPr txBox="1"/>
          <p:nvPr/>
        </p:nvSpPr>
        <p:spPr>
          <a:xfrm>
            <a:off x="822960" y="6217920"/>
            <a:ext cx="10545775" cy="365760"/>
          </a:xfrm>
          <a:prstGeom prst="rect">
            <a:avLst/>
          </a:prstGeom>
          <a:noFill/>
        </p:spPr>
        <p:txBody>
          <a:bodyPr wrap="none">
            <a:spAutoFit/>
          </a:bodyPr>
          <a:lstStyle/>
          <a:p>
            <a:pPr>
              <a:defRPr sz="1100">
                <a:solidFill>
                  <a:srgbClr val="475569"/>
                </a:solidFill>
                <a:latin typeface="Arial"/>
              </a:defRPr>
            </a:pPr>
            <a:r>
              <a:t>ISRO • ISTRAC LUCKNOW</a:t>
            </a:r>
          </a:p>
          <a:p>
            <a:pPr algn="r">
              <a:defRPr sz="1100">
                <a:solidFill>
                  <a:srgbClr val="475569"/>
                </a:solidFill>
                <a:latin typeface="Arial"/>
              </a:defRPr>
            </a:pPr>
            <a:r>
              <a:t>Slide 12 / 28</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457200"/>
            <a:ext cx="10545775" cy="914400"/>
          </a:xfrm>
          <a:prstGeom prst="rect">
            <a:avLst/>
          </a:prstGeom>
          <a:noFill/>
        </p:spPr>
        <p:txBody>
          <a:bodyPr wrap="square" lIns="0" tIns="0" rIns="0" bIns="0">
            <a:spAutoFit/>
          </a:bodyPr>
          <a:lstStyle/>
          <a:p>
            <a:pPr>
              <a:defRPr sz="3200" b="1">
                <a:solidFill>
                  <a:srgbClr val="0F172A"/>
                </a:solidFill>
                <a:latin typeface="Arial"/>
              </a:defRPr>
            </a:pPr>
            <a:r>
              <a:t>Intelligent Alert Engine Lifecycle</a:t>
            </a:r>
          </a:p>
        </p:txBody>
      </p:sp>
      <p:sp>
        <p:nvSpPr>
          <p:cNvPr id="4" name="Rectangle 3"/>
          <p:cNvSpPr/>
          <p:nvPr/>
        </p:nvSpPr>
        <p:spPr>
          <a:xfrm>
            <a:off x="822960" y="1280160"/>
            <a:ext cx="10545775" cy="27432"/>
          </a:xfrm>
          <a:prstGeom prst="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737360"/>
            <a:ext cx="5029200" cy="4114800"/>
          </a:xfrm>
          <a:prstGeom prst="rect">
            <a:avLst/>
          </a:prstGeom>
          <a:noFill/>
        </p:spPr>
        <p:txBody>
          <a:bodyPr wrap="square" lIns="0" tIns="0" rIns="0" bIns="0">
            <a:spAutoFit/>
          </a:bodyPr>
          <a:lstStyle/>
          <a:p>
            <a:pPr>
              <a:spcAft>
                <a:spcPts val="1200"/>
              </a:spcAft>
              <a:defRPr sz="1600">
                <a:solidFill>
                  <a:srgbClr val="475569"/>
                </a:solidFill>
                <a:latin typeface="Arial"/>
              </a:defRPr>
            </a:pPr>
            <a:r>
              <a:t>•  Evaluates metric values against rule-defined parameters in the Metrics Processor daemon.</a:t>
            </a:r>
          </a:p>
          <a:p>
            <a:pPr>
              <a:spcAft>
                <a:spcPts val="1200"/>
              </a:spcAft>
              <a:defRPr sz="1600">
                <a:solidFill>
                  <a:srgbClr val="475569"/>
                </a:solidFill>
                <a:latin typeface="Arial"/>
              </a:defRPr>
            </a:pPr>
            <a:r>
              <a:t>•  Creates a new PostgreSQL problem record with timestamp if a metric breaches a threshold.</a:t>
            </a:r>
          </a:p>
          <a:p>
            <a:pPr>
              <a:spcAft>
                <a:spcPts val="1200"/>
              </a:spcAft>
              <a:defRPr sz="1600">
                <a:solidFill>
                  <a:srgbClr val="475569"/>
                </a:solidFill>
                <a:latin typeface="Arial"/>
              </a:defRPr>
            </a:pPr>
            <a:r>
              <a:t>•  Maintains existing problem states during continued failures, avoiding duplicate records.</a:t>
            </a:r>
          </a:p>
          <a:p>
            <a:pPr>
              <a:spcAft>
                <a:spcPts val="1200"/>
              </a:spcAft>
              <a:defRPr sz="1600">
                <a:solidFill>
                  <a:srgbClr val="475569"/>
                </a:solidFill>
                <a:latin typeface="Arial"/>
              </a:defRPr>
            </a:pPr>
            <a:r>
              <a:t>•  Resolves problems automatically and records timestamps as metrics return to normal ranges.</a:t>
            </a:r>
          </a:p>
        </p:txBody>
      </p:sp>
      <p:sp>
        <p:nvSpPr>
          <p:cNvPr id="6" name="Rectangle 5"/>
          <p:cNvSpPr/>
          <p:nvPr/>
        </p:nvSpPr>
        <p:spPr>
          <a:xfrm>
            <a:off x="6400800" y="1737360"/>
            <a:ext cx="4937760" cy="3931920"/>
          </a:xfrm>
          <a:prstGeom prst="rect">
            <a:avLst/>
          </a:prstGeom>
          <a:solidFill>
            <a:srgbClr val="0A0F1D"/>
          </a:solidFill>
          <a:ln>
            <a:solidFill>
              <a:srgbClr val="0A0F1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400">
                <a:solidFill>
                  <a:srgbClr val="FFFFFF"/>
                </a:solidFill>
              </a:defRPr>
            </a:pPr>
            <a:r>
              <a:t>ALERT ENGINE STATE TRANSITIONS</a:t>
            </a:r>
          </a:p>
          <a:p>
            <a:pPr>
              <a:spcBef>
                <a:spcPts val="1600"/>
              </a:spcBef>
              <a:defRPr sz="1200">
                <a:solidFill>
                  <a:srgbClr val="38BDF8"/>
                </a:solidFill>
                <a:latin typeface="Courier New"/>
              </a:defRPr>
            </a:pPr>
            <a:r>
              <a:t> +-----------------------+</a:t>
            </a:r>
            <a:br/>
            <a:r>
              <a:t> |  METRIC WITHIN RANGE  | &lt;-----------------+</a:t>
            </a:r>
            <a:br/>
            <a:r>
              <a:t> +-----------------------+                   |</a:t>
            </a:r>
            <a:br/>
            <a:r>
              <a:t>             |                               |</a:t>
            </a:r>
            <a:br/>
            <a:r>
              <a:t>             | [Threshold Breached]          | [Metric Clears]</a:t>
            </a:r>
            <a:br/>
            <a:r>
              <a:t>             v                               |</a:t>
            </a:r>
            <a:br/>
            <a:r>
              <a:t> +-----------------------+                   |</a:t>
            </a:r>
            <a:br/>
            <a:r>
              <a:t> |    PROBLEM CREATED    |                   |</a:t>
            </a:r>
            <a:br/>
            <a:r>
              <a:t> +-----------------------+                   |</a:t>
            </a:r>
            <a:br/>
            <a:r>
              <a:t>             |                               |</a:t>
            </a:r>
            <a:br/>
            <a:r>
              <a:t>             | [Acknowledge Action]          |</a:t>
            </a:r>
            <a:br/>
            <a:r>
              <a:t>             v                               |</a:t>
            </a:r>
            <a:br/>
            <a:r>
              <a:t> +-----------------------+                   |</a:t>
            </a:r>
            <a:br/>
            <a:r>
              <a:t> | ACKNOWLEDGED INCIDENT | ------------------+</a:t>
            </a:r>
            <a:br/>
            <a:r>
              <a:t> +-----------------------+</a:t>
            </a:r>
          </a:p>
        </p:txBody>
      </p:sp>
      <p:sp>
        <p:nvSpPr>
          <p:cNvPr id="7" name="TextBox 6"/>
          <p:cNvSpPr txBox="1"/>
          <p:nvPr/>
        </p:nvSpPr>
        <p:spPr>
          <a:xfrm>
            <a:off x="822960" y="6217920"/>
            <a:ext cx="10545775" cy="365760"/>
          </a:xfrm>
          <a:prstGeom prst="rect">
            <a:avLst/>
          </a:prstGeom>
          <a:noFill/>
        </p:spPr>
        <p:txBody>
          <a:bodyPr wrap="none">
            <a:spAutoFit/>
          </a:bodyPr>
          <a:lstStyle/>
          <a:p>
            <a:pPr>
              <a:defRPr sz="1100">
                <a:solidFill>
                  <a:srgbClr val="475569"/>
                </a:solidFill>
                <a:latin typeface="Arial"/>
              </a:defRPr>
            </a:pPr>
            <a:r>
              <a:t>ISRO • ISTRAC LUCKNOW</a:t>
            </a:r>
          </a:p>
          <a:p>
            <a:pPr algn="r">
              <a:defRPr sz="1100">
                <a:solidFill>
                  <a:srgbClr val="475569"/>
                </a:solidFill>
                <a:latin typeface="Arial"/>
              </a:defRPr>
            </a:pPr>
            <a:r>
              <a:t>Slide 13 / 28</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457200"/>
            <a:ext cx="10545775" cy="914400"/>
          </a:xfrm>
          <a:prstGeom prst="rect">
            <a:avLst/>
          </a:prstGeom>
          <a:noFill/>
        </p:spPr>
        <p:txBody>
          <a:bodyPr wrap="square" lIns="0" tIns="0" rIns="0" bIns="0">
            <a:spAutoFit/>
          </a:bodyPr>
          <a:lstStyle/>
          <a:p>
            <a:pPr>
              <a:defRPr sz="3200" b="1">
                <a:solidFill>
                  <a:srgbClr val="0F172A"/>
                </a:solidFill>
                <a:latin typeface="Arial"/>
              </a:defRPr>
            </a:pPr>
            <a:r>
              <a:t>Low-Latency Live Delivery Flow</a:t>
            </a:r>
          </a:p>
        </p:txBody>
      </p:sp>
      <p:sp>
        <p:nvSpPr>
          <p:cNvPr id="4" name="Rectangle 3"/>
          <p:cNvSpPr/>
          <p:nvPr/>
        </p:nvSpPr>
        <p:spPr>
          <a:xfrm>
            <a:off x="822960" y="1280160"/>
            <a:ext cx="10545775" cy="27432"/>
          </a:xfrm>
          <a:prstGeom prst="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737360"/>
            <a:ext cx="10545775" cy="4114800"/>
          </a:xfrm>
          <a:prstGeom prst="rect">
            <a:avLst/>
          </a:prstGeom>
          <a:noFill/>
        </p:spPr>
        <p:txBody>
          <a:bodyPr wrap="square" lIns="0" tIns="0" rIns="0" bIns="0">
            <a:spAutoFit/>
          </a:bodyPr>
          <a:lstStyle/>
          <a:p>
            <a:pPr>
              <a:spcAft>
                <a:spcPts val="1200"/>
              </a:spcAft>
              <a:defRPr sz="1600">
                <a:solidFill>
                  <a:srgbClr val="475569"/>
                </a:solidFill>
                <a:latin typeface="Arial"/>
              </a:defRPr>
            </a:pPr>
            <a:r>
              <a:t>•  Agent posts system metrics directly to the API ingestion path.</a:t>
            </a:r>
          </a:p>
          <a:p>
            <a:pPr>
              <a:spcAft>
                <a:spcPts val="1200"/>
              </a:spcAft>
              <a:defRPr sz="1600">
                <a:solidFill>
                  <a:srgbClr val="475569"/>
                </a:solidFill>
                <a:latin typeface="Arial"/>
              </a:defRPr>
            </a:pPr>
            <a:r>
              <a:t>•  Ingestion layer publishes raw payload string inside a Kafka queue.</a:t>
            </a:r>
          </a:p>
          <a:p>
            <a:pPr>
              <a:spcAft>
                <a:spcPts val="1200"/>
              </a:spcAft>
              <a:defRPr sz="1600">
                <a:solidFill>
                  <a:srgbClr val="475569"/>
                </a:solidFill>
                <a:latin typeface="Arial"/>
              </a:defRPr>
            </a:pPr>
            <a:r>
              <a:t>•  Metrics Processor evaluates rules and posts updates to Redis.</a:t>
            </a:r>
          </a:p>
          <a:p>
            <a:pPr>
              <a:spcAft>
                <a:spcPts val="1200"/>
              </a:spcAft>
              <a:defRPr sz="1600">
                <a:solidFill>
                  <a:srgbClr val="475569"/>
                </a:solidFill>
                <a:latin typeface="Arial"/>
              </a:defRPr>
            </a:pPr>
            <a:r>
              <a:t>•  WebSocket Gateway broadcasts events directly to open browser rooms.</a:t>
            </a:r>
          </a:p>
          <a:p>
            <a:pPr>
              <a:spcAft>
                <a:spcPts val="1200"/>
              </a:spcAft>
              <a:defRPr sz="1600">
                <a:solidFill>
                  <a:srgbClr val="475569"/>
                </a:solidFill>
                <a:latin typeface="Arial"/>
              </a:defRPr>
            </a:pPr>
            <a:r>
              <a:t>•  Next.js dashboard components redraw immediately without page refreshes.</a:t>
            </a:r>
          </a:p>
          <a:p>
            <a:pPr>
              <a:spcAft>
                <a:spcPts val="1200"/>
              </a:spcAft>
              <a:defRPr sz="1600">
                <a:solidFill>
                  <a:srgbClr val="475569"/>
                </a:solidFill>
                <a:latin typeface="Arial"/>
              </a:defRPr>
            </a:pPr>
            <a:r>
              <a:t>•  Validated overall latency: under 2 seconds across active endpoints.</a:t>
            </a:r>
          </a:p>
        </p:txBody>
      </p:sp>
      <p:sp>
        <p:nvSpPr>
          <p:cNvPr id="6" name="TextBox 5"/>
          <p:cNvSpPr txBox="1"/>
          <p:nvPr/>
        </p:nvSpPr>
        <p:spPr>
          <a:xfrm>
            <a:off x="822960" y="6217920"/>
            <a:ext cx="10545775" cy="365760"/>
          </a:xfrm>
          <a:prstGeom prst="rect">
            <a:avLst/>
          </a:prstGeom>
          <a:noFill/>
        </p:spPr>
        <p:txBody>
          <a:bodyPr wrap="none">
            <a:spAutoFit/>
          </a:bodyPr>
          <a:lstStyle/>
          <a:p>
            <a:pPr>
              <a:defRPr sz="1100">
                <a:solidFill>
                  <a:srgbClr val="475569"/>
                </a:solidFill>
                <a:latin typeface="Arial"/>
              </a:defRPr>
            </a:pPr>
            <a:r>
              <a:t>ISRO • ISTRAC LUCKNOW</a:t>
            </a:r>
          </a:p>
          <a:p>
            <a:pPr algn="r">
              <a:defRPr sz="1100">
                <a:solidFill>
                  <a:srgbClr val="475569"/>
                </a:solidFill>
                <a:latin typeface="Arial"/>
              </a:defRPr>
            </a:pPr>
            <a:r>
              <a:t>Slide 14 / 28</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457200"/>
            <a:ext cx="10545775" cy="914400"/>
          </a:xfrm>
          <a:prstGeom prst="rect">
            <a:avLst/>
          </a:prstGeom>
          <a:noFill/>
        </p:spPr>
        <p:txBody>
          <a:bodyPr wrap="square" lIns="0" tIns="0" rIns="0" bIns="0">
            <a:spAutoFit/>
          </a:bodyPr>
          <a:lstStyle/>
          <a:p>
            <a:pPr>
              <a:defRPr sz="3200" b="1">
                <a:solidFill>
                  <a:srgbClr val="0F172A"/>
                </a:solidFill>
                <a:latin typeface="Arial"/>
              </a:defRPr>
            </a:pPr>
            <a:r>
              <a:t>Dashboard Overview</a:t>
            </a:r>
          </a:p>
        </p:txBody>
      </p:sp>
      <p:sp>
        <p:nvSpPr>
          <p:cNvPr id="4" name="Rectangle 3"/>
          <p:cNvSpPr/>
          <p:nvPr/>
        </p:nvSpPr>
        <p:spPr>
          <a:xfrm>
            <a:off x="822960" y="1280160"/>
            <a:ext cx="10545775" cy="27432"/>
          </a:xfrm>
          <a:prstGeom prst="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737360"/>
            <a:ext cx="5029200" cy="4114800"/>
          </a:xfrm>
          <a:prstGeom prst="rect">
            <a:avLst/>
          </a:prstGeom>
          <a:noFill/>
        </p:spPr>
        <p:txBody>
          <a:bodyPr wrap="square" lIns="0" tIns="0" rIns="0" bIns="0">
            <a:spAutoFit/>
          </a:bodyPr>
          <a:lstStyle/>
          <a:p>
            <a:pPr>
              <a:spcAft>
                <a:spcPts val="1200"/>
              </a:spcAft>
              <a:defRPr sz="1600">
                <a:solidFill>
                  <a:srgbClr val="475569"/>
                </a:solidFill>
                <a:latin typeface="Arial"/>
              </a:defRPr>
            </a:pPr>
            <a:r>
              <a:t>•  High-density dashboard design, engineered for continuous operations centers.</a:t>
            </a:r>
          </a:p>
          <a:p>
            <a:pPr>
              <a:spcAft>
                <a:spcPts val="1200"/>
              </a:spcAft>
              <a:defRPr sz="1600">
                <a:solidFill>
                  <a:srgbClr val="475569"/>
                </a:solidFill>
                <a:latin typeface="Arial"/>
              </a:defRPr>
            </a:pPr>
            <a:r>
              <a:t>•  Features clean cards to trace metrics including CPU, RAM, and Disk storage.</a:t>
            </a:r>
          </a:p>
          <a:p>
            <a:pPr>
              <a:spcAft>
                <a:spcPts val="1200"/>
              </a:spcAft>
              <a:defRPr sz="1600">
                <a:solidFill>
                  <a:srgbClr val="475569"/>
                </a:solidFill>
                <a:latin typeface="Arial"/>
              </a:defRPr>
            </a:pPr>
            <a:r>
              <a:t>•  Maintains interactive active problems logs with manual alert acknowledgement tools.</a:t>
            </a:r>
          </a:p>
          <a:p>
            <a:pPr>
              <a:spcAft>
                <a:spcPts val="1200"/>
              </a:spcAft>
              <a:defRPr sz="1600">
                <a:solidFill>
                  <a:srgbClr val="475569"/>
                </a:solidFill>
                <a:latin typeface="Arial"/>
              </a:defRPr>
            </a:pPr>
            <a:r>
              <a:t>•  Integrates historical time-series analytics charts using high-performance queries.</a:t>
            </a:r>
          </a:p>
        </p:txBody>
      </p:sp>
      <p:sp>
        <p:nvSpPr>
          <p:cNvPr id="6" name="Rectangle 5"/>
          <p:cNvSpPr/>
          <p:nvPr/>
        </p:nvSpPr>
        <p:spPr>
          <a:xfrm>
            <a:off x="6400800" y="1737360"/>
            <a:ext cx="4937760" cy="3931920"/>
          </a:xfrm>
          <a:prstGeom prst="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400">
                <a:solidFill>
                  <a:srgbClr val="0F172A"/>
                </a:solidFill>
              </a:defRPr>
            </a:pPr>
            <a:r>
              <a:t>MONITORING UI ARCHITECTURE</a:t>
            </a:r>
          </a:p>
          <a:p>
            <a:pPr>
              <a:spcBef>
                <a:spcPts val="1600"/>
              </a:spcBef>
              <a:defRPr sz="1100">
                <a:solidFill>
                  <a:srgbClr val="475569"/>
                </a:solidFill>
                <a:latin typeface="Courier New"/>
              </a:defRPr>
            </a:pPr>
            <a:r>
              <a:t> +------------------------------------------------------+</a:t>
            </a:r>
            <a:br/>
            <a:r>
              <a:t> | [Global Health Status Overview Row]                  |</a:t>
            </a:r>
            <a:br/>
            <a:r>
              <a:t> +------------------------------------------------------+</a:t>
            </a:r>
            <a:br/>
            <a:r>
              <a:t> | Host Inventory Grid     | Active Trigger Alarms Panel |</a:t>
            </a:r>
            <a:br/>
            <a:r>
              <a:t> |                         |                             |</a:t>
            </a:r>
            <a:br/>
            <a:r>
              <a:t> | * LUC-GW-SRV-01 [OK]    | * CPU Overload (&gt;90%) [WARN]|</a:t>
            </a:r>
            <a:br/>
            <a:r>
              <a:t> | * LKO-DB-SRV-02 [WARN]  | * Disk Full (&gt;95%) [CRIT]   |</a:t>
            </a:r>
            <a:br/>
            <a:r>
              <a:t> +------------------------------------------------------+</a:t>
            </a:r>
            <a:br/>
            <a:r>
              <a:t> | Real-time System Gauges &amp; Live Stream Activity Logs  |</a:t>
            </a:r>
            <a:br/>
            <a:r>
              <a:t> +------------------------------------------------------+</a:t>
            </a:r>
          </a:p>
        </p:txBody>
      </p:sp>
      <p:sp>
        <p:nvSpPr>
          <p:cNvPr id="7" name="TextBox 6"/>
          <p:cNvSpPr txBox="1"/>
          <p:nvPr/>
        </p:nvSpPr>
        <p:spPr>
          <a:xfrm>
            <a:off x="822960" y="6217920"/>
            <a:ext cx="10545775" cy="365760"/>
          </a:xfrm>
          <a:prstGeom prst="rect">
            <a:avLst/>
          </a:prstGeom>
          <a:noFill/>
        </p:spPr>
        <p:txBody>
          <a:bodyPr wrap="none">
            <a:spAutoFit/>
          </a:bodyPr>
          <a:lstStyle/>
          <a:p>
            <a:pPr>
              <a:defRPr sz="1100">
                <a:solidFill>
                  <a:srgbClr val="475569"/>
                </a:solidFill>
                <a:latin typeface="Arial"/>
              </a:defRPr>
            </a:pPr>
            <a:r>
              <a:t>ISRO • ISTRAC LUCKNOW</a:t>
            </a:r>
          </a:p>
          <a:p>
            <a:pPr algn="r">
              <a:defRPr sz="1100">
                <a:solidFill>
                  <a:srgbClr val="475569"/>
                </a:solidFill>
                <a:latin typeface="Arial"/>
              </a:defRPr>
            </a:pPr>
            <a:r>
              <a:t>Slide 15 / 28</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F1D"/>
          </a:solidFill>
          <a:ln>
            <a:solidFill>
              <a:srgbClr val="0A0F1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011680"/>
            <a:ext cx="10362895" cy="2743200"/>
          </a:xfrm>
          <a:prstGeom prst="rect">
            <a:avLst/>
          </a:prstGeom>
          <a:noFill/>
        </p:spPr>
        <p:txBody>
          <a:bodyPr wrap="square">
            <a:spAutoFit/>
          </a:bodyPr>
          <a:lstStyle/>
          <a:p>
            <a:pPr algn="ctr">
              <a:defRPr sz="5600" b="1">
                <a:solidFill>
                  <a:srgbClr val="FFFFFF"/>
                </a:solidFill>
                <a:latin typeface="Arial"/>
              </a:defRPr>
            </a:pPr>
            <a:r>
              <a:t>LIVE DEMONSTRATION</a:t>
            </a:r>
          </a:p>
          <a:p>
            <a:pPr algn="ctr">
              <a:spcBef>
                <a:spcPts val="1600"/>
              </a:spcBef>
              <a:defRPr sz="1800">
                <a:solidFill>
                  <a:srgbClr val="94A3B8"/>
                </a:solidFill>
                <a:latin typeface="Arial"/>
              </a:defRPr>
            </a:pPr>
            <a:r>
              <a:t>Operational Platform Demo: Launching local agent loops, inspecting ingestion logs, viewing dashboard state updates, and triggering dynamic rules</a:t>
            </a:r>
          </a:p>
        </p:txBody>
      </p:sp>
      <p:sp>
        <p:nvSpPr>
          <p:cNvPr id="4" name="TextBox 3"/>
          <p:cNvSpPr txBox="1"/>
          <p:nvPr/>
        </p:nvSpPr>
        <p:spPr>
          <a:xfrm>
            <a:off x="822960" y="6217920"/>
            <a:ext cx="10545775" cy="365760"/>
          </a:xfrm>
          <a:prstGeom prst="rect">
            <a:avLst/>
          </a:prstGeom>
          <a:noFill/>
        </p:spPr>
        <p:txBody>
          <a:bodyPr wrap="none">
            <a:spAutoFit/>
          </a:bodyPr>
          <a:lstStyle/>
          <a:p>
            <a:pPr>
              <a:defRPr sz="1100">
                <a:solidFill>
                  <a:srgbClr val="94A3B8"/>
                </a:solidFill>
                <a:latin typeface="Arial"/>
              </a:defRPr>
            </a:pPr>
            <a:r>
              <a:t>ISRO • ISTRAC LUCKNOW</a:t>
            </a:r>
          </a:p>
          <a:p>
            <a:pPr algn="r">
              <a:defRPr sz="1100">
                <a:solidFill>
                  <a:srgbClr val="94A3B8"/>
                </a:solidFill>
                <a:latin typeface="Arial"/>
              </a:defRPr>
            </a:pPr>
            <a:r>
              <a:t>Slide 16 / 28</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457200"/>
            <a:ext cx="10545775" cy="914400"/>
          </a:xfrm>
          <a:prstGeom prst="rect">
            <a:avLst/>
          </a:prstGeom>
          <a:noFill/>
        </p:spPr>
        <p:txBody>
          <a:bodyPr wrap="square" lIns="0" tIns="0" rIns="0" bIns="0">
            <a:spAutoFit/>
          </a:bodyPr>
          <a:lstStyle/>
          <a:p>
            <a:pPr>
              <a:defRPr sz="3200" b="1">
                <a:solidFill>
                  <a:srgbClr val="0F172A"/>
                </a:solidFill>
                <a:latin typeface="Arial"/>
              </a:defRPr>
            </a:pPr>
            <a:r>
              <a:t>Agent Payload &amp; Metrics Format</a:t>
            </a:r>
          </a:p>
        </p:txBody>
      </p:sp>
      <p:sp>
        <p:nvSpPr>
          <p:cNvPr id="4" name="Rectangle 3"/>
          <p:cNvSpPr/>
          <p:nvPr/>
        </p:nvSpPr>
        <p:spPr>
          <a:xfrm>
            <a:off x="822960" y="1280160"/>
            <a:ext cx="10545775" cy="27432"/>
          </a:xfrm>
          <a:prstGeom prst="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22960" y="1737360"/>
            <a:ext cx="4937760" cy="3931920"/>
          </a:xfrm>
          <a:prstGeom prst="rect">
            <a:avLst/>
          </a:prstGeom>
          <a:solidFill>
            <a:srgbClr val="0A0F1D"/>
          </a:solidFill>
          <a:ln>
            <a:solidFill>
              <a:srgbClr val="0A0F1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300">
                <a:solidFill>
                  <a:srgbClr val="FFFFFF"/>
                </a:solidFill>
              </a:defRPr>
            </a:pPr>
            <a:r>
              <a:t>SAMPLE CLIENT TELEMETRY PAYLOAD</a:t>
            </a:r>
          </a:p>
          <a:p>
            <a:pPr>
              <a:spcBef>
                <a:spcPts val="1200"/>
              </a:spcBef>
              <a:defRPr sz="1100">
                <a:solidFill>
                  <a:srgbClr val="38BDF8"/>
                </a:solidFill>
                <a:latin typeface="Courier New"/>
              </a:defRPr>
            </a:pPr>
            <a:r>
              <a:t>{</a:t>
            </a:r>
            <a:br/>
            <a:r>
              <a:t>  "agent_key": "ak_istrac_luc_01",</a:t>
            </a:r>
            <a:br/>
            <a:r>
              <a:t>  "hostname": "LUC-GW-SRV-01",</a:t>
            </a:r>
            <a:br/>
            <a:r>
              <a:t>  "metrics": {</a:t>
            </a:r>
            <a:br/>
            <a:r>
              <a:t>    "cpu_usage": 42.18,</a:t>
            </a:r>
            <a:br/>
            <a:r>
              <a:t>    "ram_total_mb": 16384,</a:t>
            </a:r>
            <a:br/>
            <a:r>
              <a:t>    "ram_used_mb": 8192,</a:t>
            </a:r>
            <a:br/>
            <a:r>
              <a:t>    "disk_total_gb": 512,</a:t>
            </a:r>
            <a:br/>
            <a:r>
              <a:t>    "disk_used_gb": 256,</a:t>
            </a:r>
            <a:br/>
            <a:r>
              <a:t>    "uptime_secs": 86400,</a:t>
            </a:r>
            <a:br/>
            <a:r>
              <a:t>    "services_state": {</a:t>
            </a:r>
            <a:br/>
            <a:r>
              <a:t>      "ssh": 1,</a:t>
            </a:r>
            <a:br/>
            <a:r>
              <a:t>      "postgres": 1</a:t>
            </a:r>
            <a:br/>
            <a:r>
              <a:t>    }</a:t>
            </a:r>
            <a:br/>
            <a:r>
              <a:t>  }</a:t>
            </a:r>
            <a:br/>
            <a:r>
              <a:t>}</a:t>
            </a:r>
          </a:p>
        </p:txBody>
      </p:sp>
      <p:sp>
        <p:nvSpPr>
          <p:cNvPr id="6" name="TextBox 5"/>
          <p:cNvSpPr txBox="1"/>
          <p:nvPr/>
        </p:nvSpPr>
        <p:spPr>
          <a:xfrm>
            <a:off x="6126480" y="1737360"/>
            <a:ext cx="5212080" cy="3931920"/>
          </a:xfrm>
          <a:prstGeom prst="rect">
            <a:avLst/>
          </a:prstGeom>
          <a:noFill/>
        </p:spPr>
        <p:txBody>
          <a:bodyPr wrap="square" lIns="0" tIns="0" rIns="0" bIns="0">
            <a:spAutoFit/>
          </a:bodyPr>
          <a:lstStyle/>
          <a:p>
            <a:pPr>
              <a:spcAft>
                <a:spcPts val="1200"/>
              </a:spcAft>
              <a:defRPr sz="1600">
                <a:solidFill>
                  <a:srgbClr val="475569"/>
                </a:solidFill>
                <a:latin typeface="Arial"/>
              </a:defRPr>
            </a:pPr>
            <a:r>
              <a:t>•  Agent Heartbeats: Dispatches lightweight heartbeat status pings every 10 seconds.</a:t>
            </a:r>
          </a:p>
          <a:p>
            <a:pPr>
              <a:spcAft>
                <a:spcPts val="1200"/>
              </a:spcAft>
              <a:defRPr sz="1600">
                <a:solidFill>
                  <a:srgbClr val="475569"/>
                </a:solidFill>
                <a:latin typeface="Arial"/>
              </a:defRPr>
            </a:pPr>
            <a:r>
              <a:t>•  Full Metrics Payloads: Packages complete telemetry fields for ingestion every 30 seconds.</a:t>
            </a:r>
          </a:p>
          <a:p>
            <a:pPr>
              <a:spcAft>
                <a:spcPts val="1200"/>
              </a:spcAft>
              <a:defRPr sz="1600">
                <a:solidFill>
                  <a:srgbClr val="475569"/>
                </a:solidFill>
                <a:latin typeface="Arial"/>
              </a:defRPr>
            </a:pPr>
            <a:r>
              <a:t>•  Idempotent Validation: Confirms system registrations securely via unique API keys.</a:t>
            </a:r>
          </a:p>
          <a:p>
            <a:pPr>
              <a:spcAft>
                <a:spcPts val="1200"/>
              </a:spcAft>
              <a:defRPr sz="1600">
                <a:solidFill>
                  <a:srgbClr val="475569"/>
                </a:solidFill>
                <a:latin typeface="Arial"/>
              </a:defRPr>
            </a:pPr>
            <a:r>
              <a:t>•  Backoff Recovery: Retries communication using exponential backoffs if endpoints fail.</a:t>
            </a:r>
          </a:p>
        </p:txBody>
      </p:sp>
      <p:sp>
        <p:nvSpPr>
          <p:cNvPr id="7" name="TextBox 6"/>
          <p:cNvSpPr txBox="1"/>
          <p:nvPr/>
        </p:nvSpPr>
        <p:spPr>
          <a:xfrm>
            <a:off x="822960" y="6217920"/>
            <a:ext cx="10545775" cy="365760"/>
          </a:xfrm>
          <a:prstGeom prst="rect">
            <a:avLst/>
          </a:prstGeom>
          <a:noFill/>
        </p:spPr>
        <p:txBody>
          <a:bodyPr wrap="none">
            <a:spAutoFit/>
          </a:bodyPr>
          <a:lstStyle/>
          <a:p>
            <a:pPr>
              <a:defRPr sz="1100">
                <a:solidFill>
                  <a:srgbClr val="475569"/>
                </a:solidFill>
                <a:latin typeface="Arial"/>
              </a:defRPr>
            </a:pPr>
            <a:r>
              <a:t>ISRO • ISTRAC LUCKNOW</a:t>
            </a:r>
          </a:p>
          <a:p>
            <a:pPr algn="r">
              <a:defRPr sz="1100">
                <a:solidFill>
                  <a:srgbClr val="475569"/>
                </a:solidFill>
                <a:latin typeface="Arial"/>
              </a:defRPr>
            </a:pPr>
            <a:r>
              <a:t>Slide 17 / 28</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457200"/>
            <a:ext cx="10545775" cy="914400"/>
          </a:xfrm>
          <a:prstGeom prst="rect">
            <a:avLst/>
          </a:prstGeom>
          <a:noFill/>
        </p:spPr>
        <p:txBody>
          <a:bodyPr wrap="square" lIns="0" tIns="0" rIns="0" bIns="0">
            <a:spAutoFit/>
          </a:bodyPr>
          <a:lstStyle/>
          <a:p>
            <a:pPr>
              <a:defRPr sz="3200" b="1">
                <a:solidFill>
                  <a:srgbClr val="0F172A"/>
                </a:solidFill>
                <a:latin typeface="Arial"/>
              </a:defRPr>
            </a:pPr>
            <a:r>
              <a:t>Dashboard Real-Time Updates</a:t>
            </a:r>
          </a:p>
        </p:txBody>
      </p:sp>
      <p:sp>
        <p:nvSpPr>
          <p:cNvPr id="4" name="Rectangle 3"/>
          <p:cNvSpPr/>
          <p:nvPr/>
        </p:nvSpPr>
        <p:spPr>
          <a:xfrm>
            <a:off x="822960" y="1280160"/>
            <a:ext cx="10545775" cy="27432"/>
          </a:xfrm>
          <a:prstGeom prst="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737360"/>
            <a:ext cx="10545775" cy="4114800"/>
          </a:xfrm>
          <a:prstGeom prst="rect">
            <a:avLst/>
          </a:prstGeom>
          <a:noFill/>
        </p:spPr>
        <p:txBody>
          <a:bodyPr wrap="square" lIns="0" tIns="0" rIns="0" bIns="0">
            <a:spAutoFit/>
          </a:bodyPr>
          <a:lstStyle/>
          <a:p>
            <a:pPr>
              <a:spcAft>
                <a:spcPts val="1200"/>
              </a:spcAft>
              <a:defRPr sz="1600">
                <a:solidFill>
                  <a:srgbClr val="475569"/>
                </a:solidFill>
                <a:latin typeface="Arial"/>
              </a:defRPr>
            </a:pPr>
            <a:r>
              <a:t>•  Instant Gauge Sweeps: Visual progress bars update instantly when metrics change.</a:t>
            </a:r>
          </a:p>
          <a:p>
            <a:pPr>
              <a:spcAft>
                <a:spcPts val="1200"/>
              </a:spcAft>
              <a:defRPr sz="1600">
                <a:solidFill>
                  <a:srgbClr val="475569"/>
                </a:solidFill>
                <a:latin typeface="Arial"/>
              </a:defRPr>
            </a:pPr>
            <a:r>
              <a:t>•  System Status Badges: Color elements switch dynamically to show status states (OK, WARN, CRIT).</a:t>
            </a:r>
          </a:p>
          <a:p>
            <a:pPr>
              <a:spcAft>
                <a:spcPts val="1200"/>
              </a:spcAft>
              <a:defRPr sz="1600">
                <a:solidFill>
                  <a:srgbClr val="475569"/>
                </a:solidFill>
                <a:latin typeface="Arial"/>
              </a:defRPr>
            </a:pPr>
            <a:r>
              <a:t>•  Real-time Alerts Panel: Rule breaches render notifications without requiring page refreshes.</a:t>
            </a:r>
          </a:p>
          <a:p>
            <a:pPr>
              <a:spcAft>
                <a:spcPts val="1200"/>
              </a:spcAft>
              <a:defRPr sz="1600">
                <a:solidFill>
                  <a:srgbClr val="475569"/>
                </a:solidFill>
                <a:latin typeface="Arial"/>
              </a:defRPr>
            </a:pPr>
            <a:r>
              <a:t>•  On-Demand Charts: Graph coordinates pull cleanly from time-series storage arrays.</a:t>
            </a:r>
          </a:p>
        </p:txBody>
      </p:sp>
      <p:sp>
        <p:nvSpPr>
          <p:cNvPr id="6" name="TextBox 5"/>
          <p:cNvSpPr txBox="1"/>
          <p:nvPr/>
        </p:nvSpPr>
        <p:spPr>
          <a:xfrm>
            <a:off x="822960" y="6217920"/>
            <a:ext cx="10545775" cy="365760"/>
          </a:xfrm>
          <a:prstGeom prst="rect">
            <a:avLst/>
          </a:prstGeom>
          <a:noFill/>
        </p:spPr>
        <p:txBody>
          <a:bodyPr wrap="none">
            <a:spAutoFit/>
          </a:bodyPr>
          <a:lstStyle/>
          <a:p>
            <a:pPr>
              <a:defRPr sz="1100">
                <a:solidFill>
                  <a:srgbClr val="475569"/>
                </a:solidFill>
                <a:latin typeface="Arial"/>
              </a:defRPr>
            </a:pPr>
            <a:r>
              <a:t>ISRO • ISTRAC LUCKNOW</a:t>
            </a:r>
          </a:p>
          <a:p>
            <a:pPr algn="r">
              <a:defRPr sz="1100">
                <a:solidFill>
                  <a:srgbClr val="475569"/>
                </a:solidFill>
                <a:latin typeface="Arial"/>
              </a:defRPr>
            </a:pPr>
            <a:r>
              <a:t>Slide 18 / 28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457200"/>
            <a:ext cx="10545775" cy="914400"/>
          </a:xfrm>
          <a:prstGeom prst="rect">
            <a:avLst/>
          </a:prstGeom>
          <a:noFill/>
        </p:spPr>
        <p:txBody>
          <a:bodyPr wrap="square" lIns="0" tIns="0" rIns="0" bIns="0">
            <a:spAutoFit/>
          </a:bodyPr>
          <a:lstStyle/>
          <a:p>
            <a:pPr>
              <a:defRPr sz="3200" b="1">
                <a:solidFill>
                  <a:srgbClr val="0F172A"/>
                </a:solidFill>
                <a:latin typeface="Arial"/>
              </a:defRPr>
            </a:pPr>
            <a:r>
              <a:t>Achievement 1: Multi-Host Monitoring</a:t>
            </a:r>
          </a:p>
        </p:txBody>
      </p:sp>
      <p:sp>
        <p:nvSpPr>
          <p:cNvPr id="4" name="Rectangle 3"/>
          <p:cNvSpPr/>
          <p:nvPr/>
        </p:nvSpPr>
        <p:spPr>
          <a:xfrm>
            <a:off x="822960" y="1280160"/>
            <a:ext cx="10545775" cy="27432"/>
          </a:xfrm>
          <a:prstGeom prst="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737360"/>
            <a:ext cx="5029200" cy="4114800"/>
          </a:xfrm>
          <a:prstGeom prst="rect">
            <a:avLst/>
          </a:prstGeom>
          <a:noFill/>
        </p:spPr>
        <p:txBody>
          <a:bodyPr wrap="square" lIns="0" tIns="0" rIns="0" bIns="0">
            <a:spAutoFit/>
          </a:bodyPr>
          <a:lstStyle/>
          <a:p>
            <a:pPr>
              <a:spcAft>
                <a:spcPts val="1200"/>
              </a:spcAft>
              <a:defRPr sz="1600">
                <a:solidFill>
                  <a:srgbClr val="475569"/>
                </a:solidFill>
                <a:latin typeface="Arial"/>
              </a:defRPr>
            </a:pPr>
            <a:r>
              <a:t>•  Validated Concurrent Ingestion: Successfully processed streams from multiple active hosts without database locks.</a:t>
            </a:r>
          </a:p>
          <a:p>
            <a:pPr>
              <a:spcAft>
                <a:spcPts val="1200"/>
              </a:spcAft>
              <a:defRPr sz="1600">
                <a:solidFill>
                  <a:srgbClr val="475569"/>
                </a:solidFill>
                <a:latin typeface="Arial"/>
              </a:defRPr>
            </a:pPr>
            <a:r>
              <a:t>•  Aggregated Health Overview: Created a status interface mapping active hosts, open problems, and hardware usage metrics.</a:t>
            </a:r>
          </a:p>
          <a:p>
            <a:pPr>
              <a:spcAft>
                <a:spcPts val="1200"/>
              </a:spcAft>
              <a:defRPr sz="1600">
                <a:solidFill>
                  <a:srgbClr val="475569"/>
                </a:solidFill>
                <a:latin typeface="Arial"/>
              </a:defRPr>
            </a:pPr>
            <a:r>
              <a:t>•  Host Isolation Safeguards: Assured secure tenant boundaries by tying streams to unique system API keys.</a:t>
            </a:r>
          </a:p>
        </p:txBody>
      </p:sp>
      <p:sp>
        <p:nvSpPr>
          <p:cNvPr id="6" name="Rectangle 5"/>
          <p:cNvSpPr/>
          <p:nvPr/>
        </p:nvSpPr>
        <p:spPr>
          <a:xfrm>
            <a:off x="6400800" y="1737360"/>
            <a:ext cx="4937760" cy="3931920"/>
          </a:xfrm>
          <a:prstGeom prst="rect">
            <a:avLst/>
          </a:prstGeom>
          <a:solidFill>
            <a:srgbClr val="0A0F1D"/>
          </a:solidFill>
          <a:ln>
            <a:solidFill>
              <a:srgbClr val="0A0F1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400">
                <a:solidFill>
                  <a:srgbClr val="FFFFFF"/>
                </a:solidFill>
              </a:defRPr>
            </a:pPr>
            <a:r>
              <a:t>MULTI-HOST TELEMETRY PIPELINE</a:t>
            </a:r>
          </a:p>
          <a:p>
            <a:pPr>
              <a:spcBef>
                <a:spcPts val="2000"/>
              </a:spcBef>
              <a:defRPr sz="1200">
                <a:solidFill>
                  <a:srgbClr val="38BDF8"/>
                </a:solidFill>
                <a:latin typeface="Courier New"/>
              </a:defRPr>
            </a:pPr>
            <a:r>
              <a:t> [Host Node A] --(ak_luc_01)-------+</a:t>
            </a:r>
            <a:br/>
            <a:r>
              <a:t>                                     |</a:t>
            </a:r>
            <a:br/>
            <a:r>
              <a:t> [Host Node B] --(ak_luc_02)-------+-----&gt; [CORE API GATEWAY]</a:t>
            </a:r>
            <a:br/>
            <a:r>
              <a:t>                                     |          |</a:t>
            </a:r>
            <a:br/>
            <a:r>
              <a:t> [Host Node C] --(ak_luc_03)-------+          v</a:t>
            </a:r>
            <a:br/>
            <a:r>
              <a:t>                                          [KAFKA QUEUE]</a:t>
            </a:r>
            <a:br/>
            <a:r>
              <a:t>                                                |</a:t>
            </a:r>
            <a:br/>
            <a:r>
              <a:t>                                                v</a:t>
            </a:r>
            <a:br/>
            <a:r>
              <a:t>                                      [METRICS DECOUPLER]</a:t>
            </a:r>
            <a:br/>
            <a:r>
              <a:t>                                                |</a:t>
            </a:r>
            <a:br/>
            <a:r>
              <a:t>                                                v</a:t>
            </a:r>
            <a:br/>
            <a:r>
              <a:t>                                      [UNIFIED DASHBOARD]</a:t>
            </a:r>
          </a:p>
        </p:txBody>
      </p:sp>
      <p:sp>
        <p:nvSpPr>
          <p:cNvPr id="7" name="TextBox 6"/>
          <p:cNvSpPr txBox="1"/>
          <p:nvPr/>
        </p:nvSpPr>
        <p:spPr>
          <a:xfrm>
            <a:off x="822960" y="6217920"/>
            <a:ext cx="10545775" cy="365760"/>
          </a:xfrm>
          <a:prstGeom prst="rect">
            <a:avLst/>
          </a:prstGeom>
          <a:noFill/>
        </p:spPr>
        <p:txBody>
          <a:bodyPr wrap="none">
            <a:spAutoFit/>
          </a:bodyPr>
          <a:lstStyle/>
          <a:p>
            <a:pPr>
              <a:defRPr sz="1100">
                <a:solidFill>
                  <a:srgbClr val="475569"/>
                </a:solidFill>
                <a:latin typeface="Arial"/>
              </a:defRPr>
            </a:pPr>
            <a:r>
              <a:t>ISRO • ISTRAC LUCKNOW</a:t>
            </a:r>
          </a:p>
          <a:p>
            <a:pPr algn="r">
              <a:defRPr sz="1100">
                <a:solidFill>
                  <a:srgbClr val="475569"/>
                </a:solidFill>
                <a:latin typeface="Arial"/>
              </a:defRPr>
            </a:pPr>
            <a:r>
              <a:t>Slide 19 / 28</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457200"/>
            <a:ext cx="10545775" cy="914400"/>
          </a:xfrm>
          <a:prstGeom prst="rect">
            <a:avLst/>
          </a:prstGeom>
          <a:noFill/>
        </p:spPr>
        <p:txBody>
          <a:bodyPr wrap="square" lIns="0" tIns="0" rIns="0" bIns="0">
            <a:spAutoFit/>
          </a:bodyPr>
          <a:lstStyle/>
          <a:p>
            <a:pPr>
              <a:defRPr sz="3200" b="1">
                <a:solidFill>
                  <a:srgbClr val="0F172A"/>
                </a:solidFill>
                <a:latin typeface="Arial"/>
              </a:defRPr>
            </a:pPr>
            <a:r>
              <a:t>Achievement 2: Alert Lifecycle Loops</a:t>
            </a:r>
          </a:p>
        </p:txBody>
      </p:sp>
      <p:sp>
        <p:nvSpPr>
          <p:cNvPr id="4" name="Rectangle 3"/>
          <p:cNvSpPr/>
          <p:nvPr/>
        </p:nvSpPr>
        <p:spPr>
          <a:xfrm>
            <a:off x="822960" y="1280160"/>
            <a:ext cx="10545775" cy="27432"/>
          </a:xfrm>
          <a:prstGeom prst="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22960" y="1737360"/>
            <a:ext cx="4937760" cy="3931920"/>
          </a:xfrm>
          <a:prstGeom prst="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400">
                <a:solidFill>
                  <a:srgbClr val="EA580C"/>
                </a:solidFill>
              </a:defRPr>
            </a:pPr>
            <a:r>
              <a:t>INCIDENT TRIGGER STATE</a:t>
            </a:r>
          </a:p>
          <a:p>
            <a:pPr>
              <a:spcBef>
                <a:spcPts val="1200"/>
              </a:spcBef>
              <a:defRPr sz="1300">
                <a:solidFill>
                  <a:srgbClr val="475569"/>
                </a:solidFill>
              </a:defRPr>
            </a:pPr>
            <a:r>
              <a:t>• Monitored CPU load crosses the 90% threshold for over two intervals.</a:t>
            </a:r>
          </a:p>
          <a:p>
            <a:pPr>
              <a:spcBef>
                <a:spcPts val="1200"/>
              </a:spcBef>
              <a:defRPr sz="1300">
                <a:solidFill>
                  <a:srgbClr val="475569"/>
                </a:solidFill>
              </a:defRPr>
            </a:pPr>
            <a:r>
              <a:t>• Alert parser validates parameters and records a new active incident.</a:t>
            </a:r>
          </a:p>
          <a:p>
            <a:pPr>
              <a:spcBef>
                <a:spcPts val="1200"/>
              </a:spcBef>
              <a:defRPr sz="1300">
                <a:solidFill>
                  <a:srgbClr val="475569"/>
                </a:solidFill>
              </a:defRPr>
            </a:pPr>
            <a:r>
              <a:t>• Alters host health states in the dashboard UI within two seconds.</a:t>
            </a:r>
          </a:p>
        </p:txBody>
      </p:sp>
      <p:sp>
        <p:nvSpPr>
          <p:cNvPr id="6" name="Rectangle 5"/>
          <p:cNvSpPr/>
          <p:nvPr/>
        </p:nvSpPr>
        <p:spPr>
          <a:xfrm>
            <a:off x="6309360" y="1737360"/>
            <a:ext cx="5029200" cy="3931920"/>
          </a:xfrm>
          <a:prstGeom prst="rect">
            <a:avLst/>
          </a:prstGeom>
          <a:solidFill>
            <a:srgbClr val="F1F5F9"/>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400">
                <a:solidFill>
                  <a:srgbClr val="2563EB"/>
                </a:solidFill>
              </a:defRPr>
            </a:pPr>
            <a:r>
              <a:t>AUTOMATED RESOLVE STATE</a:t>
            </a:r>
          </a:p>
          <a:p>
            <a:pPr>
              <a:spcBef>
                <a:spcPts val="1200"/>
              </a:spcBef>
              <a:defRPr sz="1300">
                <a:solidFill>
                  <a:srgbClr val="475569"/>
                </a:solidFill>
              </a:defRPr>
            </a:pPr>
            <a:r>
              <a:t>• CPU usage level drops below the configured trigger value.</a:t>
            </a:r>
          </a:p>
          <a:p>
            <a:pPr>
              <a:spcBef>
                <a:spcPts val="1200"/>
              </a:spcBef>
              <a:defRPr sz="1300">
                <a:solidFill>
                  <a:srgbClr val="475569"/>
                </a:solidFill>
              </a:defRPr>
            </a:pPr>
            <a:r>
              <a:t>• Alert parser updates PostgreSQL records automatically.</a:t>
            </a:r>
          </a:p>
          <a:p>
            <a:pPr>
              <a:spcBef>
                <a:spcPts val="1200"/>
              </a:spcBef>
              <a:defRPr sz="1300">
                <a:solidFill>
                  <a:srgbClr val="475569"/>
                </a:solidFill>
              </a:defRPr>
            </a:pPr>
            <a:r>
              <a:t>• Clears issues from the active dashboard immediately without manual intervention.</a:t>
            </a:r>
          </a:p>
        </p:txBody>
      </p:sp>
      <p:sp>
        <p:nvSpPr>
          <p:cNvPr id="7" name="TextBox 6"/>
          <p:cNvSpPr txBox="1"/>
          <p:nvPr/>
        </p:nvSpPr>
        <p:spPr>
          <a:xfrm>
            <a:off x="822960" y="6217920"/>
            <a:ext cx="10545775" cy="365760"/>
          </a:xfrm>
          <a:prstGeom prst="rect">
            <a:avLst/>
          </a:prstGeom>
          <a:noFill/>
        </p:spPr>
        <p:txBody>
          <a:bodyPr wrap="none">
            <a:spAutoFit/>
          </a:bodyPr>
          <a:lstStyle/>
          <a:p>
            <a:pPr>
              <a:defRPr sz="1100">
                <a:solidFill>
                  <a:srgbClr val="475569"/>
                </a:solidFill>
                <a:latin typeface="Arial"/>
              </a:defRPr>
            </a:pPr>
            <a:r>
              <a:t>ISRO • ISTRAC LUCKNOW</a:t>
            </a:r>
          </a:p>
          <a:p>
            <a:pPr algn="r">
              <a:defRPr sz="1100">
                <a:solidFill>
                  <a:srgbClr val="475569"/>
                </a:solidFill>
                <a:latin typeface="Arial"/>
              </a:defRPr>
            </a:pPr>
            <a:r>
              <a:t>Slide 20 / 28</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457200"/>
            <a:ext cx="10545775" cy="914400"/>
          </a:xfrm>
          <a:prstGeom prst="rect">
            <a:avLst/>
          </a:prstGeom>
          <a:noFill/>
        </p:spPr>
        <p:txBody>
          <a:bodyPr wrap="square" lIns="0" tIns="0" rIns="0" bIns="0">
            <a:spAutoFit/>
          </a:bodyPr>
          <a:lstStyle/>
          <a:p>
            <a:pPr>
              <a:defRPr sz="3200" b="1">
                <a:solidFill>
                  <a:srgbClr val="0F172A"/>
                </a:solidFill>
                <a:latin typeface="Arial"/>
              </a:defRPr>
            </a:pPr>
            <a:r>
              <a:t>Addressing Technical Challenges</a:t>
            </a:r>
          </a:p>
        </p:txBody>
      </p:sp>
      <p:sp>
        <p:nvSpPr>
          <p:cNvPr id="4" name="Rectangle 3"/>
          <p:cNvSpPr/>
          <p:nvPr/>
        </p:nvSpPr>
        <p:spPr>
          <a:xfrm>
            <a:off x="822960" y="1280160"/>
            <a:ext cx="10545775" cy="27432"/>
          </a:xfrm>
          <a:prstGeom prst="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822960" y="1737360"/>
          <a:ext cx="10545775" cy="3931920"/>
        </p:xfrm>
        <a:graphic>
          <a:graphicData uri="http://schemas.openxmlformats.org/drawingml/2006/table">
            <a:tbl>
              <a:tblPr firstRow="1" bandRow="1">
                <a:tableStyleId>{5C22544A-7EE6-4342-B048-85BDC9FD1C3A}</a:tableStyleId>
              </a:tblPr>
              <a:tblGrid>
                <a:gridCol w="2560320"/>
                <a:gridCol w="3657600"/>
                <a:gridCol w="4327855"/>
              </a:tblGrid>
              <a:tr h="982980">
                <a:tc>
                  <a:txBody>
                    <a:bodyPr/>
                    <a:lstStyle/>
                    <a:p>
                      <a:pPr>
                        <a:defRPr b="1" sz="1300">
                          <a:solidFill>
                            <a:srgbClr val="FFFFFF"/>
                          </a:solidFill>
                        </a:defRPr>
                      </a:pPr>
                      <a:r>
                        <a:t>Observed Engineering Challenge</a:t>
                      </a:r>
                    </a:p>
                  </a:txBody>
                  <a:tcPr>
                    <a:solidFill>
                      <a:srgbClr val="0A0F1D"/>
                    </a:solidFill>
                  </a:tcPr>
                </a:tc>
                <a:tc>
                  <a:txBody>
                    <a:bodyPr/>
                    <a:lstStyle/>
                    <a:p>
                      <a:pPr>
                        <a:defRPr b="1" sz="1300">
                          <a:solidFill>
                            <a:srgbClr val="FFFFFF"/>
                          </a:solidFill>
                        </a:defRPr>
                      </a:pPr>
                      <a:r>
                        <a:t>Root Cause Analysis</a:t>
                      </a:r>
                    </a:p>
                  </a:txBody>
                  <a:tcPr>
                    <a:solidFill>
                      <a:srgbClr val="0A0F1D"/>
                    </a:solidFill>
                  </a:tcPr>
                </a:tc>
                <a:tc>
                  <a:txBody>
                    <a:bodyPr/>
                    <a:lstStyle/>
                    <a:p>
                      <a:pPr>
                        <a:defRPr b="1" sz="1300">
                          <a:solidFill>
                            <a:srgbClr val="FFFFFF"/>
                          </a:solidFill>
                        </a:defRPr>
                      </a:pPr>
                      <a:r>
                        <a:t>Selected Resolution &amp; Implementation</a:t>
                      </a:r>
                    </a:p>
                  </a:txBody>
                  <a:tcPr>
                    <a:solidFill>
                      <a:srgbClr val="0A0F1D"/>
                    </a:solidFill>
                  </a:tcPr>
                </a:tc>
              </a:tr>
              <a:tr h="982980">
                <a:tc>
                  <a:txBody>
                    <a:bodyPr/>
                    <a:lstStyle/>
                    <a:p>
                      <a:pPr>
                        <a:defRPr sz="1100">
                          <a:solidFill>
                            <a:srgbClr val="475569"/>
                          </a:solidFill>
                        </a:defRPr>
                      </a:pPr>
                      <a:r>
                        <a:t>ClickHouse Driver ESM Crash</a:t>
                      </a:r>
                    </a:p>
                  </a:txBody>
                  <a:tcPr>
                    <a:solidFill>
                      <a:srgbClr val="F1F5F9"/>
                    </a:solidFill>
                  </a:tcPr>
                </a:tc>
                <a:tc>
                  <a:txBody>
                    <a:bodyPr/>
                    <a:lstStyle/>
                    <a:p>
                      <a:pPr>
                        <a:defRPr sz="1100">
                          <a:solidFill>
                            <a:srgbClr val="475569"/>
                          </a:solidFill>
                        </a:defRPr>
                      </a:pPr>
                      <a:r>
                        <a:t>Conflict between modern ES Module (ESM) libraries and legacy CommonJS setups.</a:t>
                      </a:r>
                    </a:p>
                  </a:txBody>
                  <a:tcPr>
                    <a:solidFill>
                      <a:srgbClr val="F1F5F9"/>
                    </a:solidFill>
                  </a:tcPr>
                </a:tc>
                <a:tc>
                  <a:txBody>
                    <a:bodyPr/>
                    <a:lstStyle/>
                    <a:p>
                      <a:pPr>
                        <a:defRPr sz="1100">
                          <a:solidFill>
                            <a:srgbClr val="475569"/>
                          </a:solidFill>
                        </a:defRPr>
                      </a:pPr>
                      <a:r>
                        <a:t>Structured tsconfig parameters to support standard module exports during runtime.</a:t>
                      </a:r>
                    </a:p>
                  </a:txBody>
                  <a:tcPr>
                    <a:solidFill>
                      <a:srgbClr val="F1F5F9"/>
                    </a:solidFill>
                  </a:tcPr>
                </a:tc>
              </a:tr>
              <a:tr h="982980">
                <a:tc>
                  <a:txBody>
                    <a:bodyPr/>
                    <a:lstStyle/>
                    <a:p>
                      <a:pPr>
                        <a:defRPr sz="1100">
                          <a:solidFill>
                            <a:srgbClr val="475569"/>
                          </a:solidFill>
                        </a:defRPr>
                      </a:pPr>
                      <a:r>
                        <a:t>Kafka Duplicated Topics Error</a:t>
                      </a:r>
                    </a:p>
                  </a:txBody>
                  <a:tcPr>
                    <a:solidFill>
                      <a:srgbClr val="FFFFFF"/>
                    </a:solidFill>
                  </a:tcPr>
                </a:tc>
                <a:tc>
                  <a:txBody>
                    <a:bodyPr/>
                    <a:lstStyle/>
                    <a:p>
                      <a:pPr>
                        <a:defRPr sz="1100">
                          <a:solidFill>
                            <a:srgbClr val="475569"/>
                          </a:solidFill>
                        </a:defRPr>
                      </a:pPr>
                      <a:r>
                        <a:t>Broker restarts raised error warnings because existing configurations remained in Zookeeper.</a:t>
                      </a:r>
                    </a:p>
                  </a:txBody>
                  <a:tcPr>
                    <a:solidFill>
                      <a:srgbClr val="FFFFFF"/>
                    </a:solidFill>
                  </a:tcPr>
                </a:tc>
                <a:tc>
                  <a:txBody>
                    <a:bodyPr/>
                    <a:lstStyle/>
                    <a:p>
                      <a:pPr>
                        <a:defRPr sz="1100">
                          <a:solidFill>
                            <a:srgbClr val="475569"/>
                          </a:solidFill>
                        </a:defRPr>
                      </a:pPr>
                      <a:r>
                        <a:t>Added pre-creation check routines to verify if topics already exist before making requests.</a:t>
                      </a:r>
                    </a:p>
                  </a:txBody>
                  <a:tcPr>
                    <a:solidFill>
                      <a:srgbClr val="FFFFFF"/>
                    </a:solidFill>
                  </a:tcPr>
                </a:tc>
              </a:tr>
              <a:tr h="982980">
                <a:tc>
                  <a:txBody>
                    <a:bodyPr/>
                    <a:lstStyle/>
                    <a:p>
                      <a:pPr>
                        <a:defRPr sz="1100">
                          <a:solidFill>
                            <a:srgbClr val="475569"/>
                          </a:solidFill>
                        </a:defRPr>
                      </a:pPr>
                      <a:r>
                        <a:t>Cross-Platform Parsing Errors</a:t>
                      </a:r>
                    </a:p>
                  </a:txBody>
                  <a:tcPr>
                    <a:solidFill>
                      <a:srgbClr val="F1F5F9"/>
                    </a:solidFill>
                  </a:tcPr>
                </a:tc>
                <a:tc>
                  <a:txBody>
                    <a:bodyPr/>
                    <a:lstStyle/>
                    <a:p>
                      <a:pPr>
                        <a:defRPr sz="1100">
                          <a:solidFill>
                            <a:srgbClr val="475569"/>
                          </a:solidFill>
                        </a:defRPr>
                      </a:pPr>
                      <a:r>
                        <a:t>Windows and Linux systems formats CLI reports differently for disk/network stats.</a:t>
                      </a:r>
                    </a:p>
                  </a:txBody>
                  <a:tcPr>
                    <a:solidFill>
                      <a:srgbClr val="F1F5F9"/>
                    </a:solidFill>
                  </a:tcPr>
                </a:tc>
                <a:tc>
                  <a:txBody>
                    <a:bodyPr/>
                    <a:lstStyle/>
                    <a:p>
                      <a:pPr>
                        <a:defRPr sz="1100">
                          <a:solidFill>
                            <a:srgbClr val="475569"/>
                          </a:solidFill>
                        </a:defRPr>
                      </a:pPr>
                      <a:r>
                        <a:t>Built distinct OS-specific parser commands inside the host agent scripts.</a:t>
                      </a:r>
                    </a:p>
                  </a:txBody>
                  <a:tcPr>
                    <a:solidFill>
                      <a:srgbClr val="F1F5F9"/>
                    </a:solidFill>
                  </a:tcPr>
                </a:tc>
              </a:tr>
            </a:tbl>
          </a:graphicData>
        </a:graphic>
      </p:graphicFrame>
      <p:sp>
        <p:nvSpPr>
          <p:cNvPr id="6" name="TextBox 5"/>
          <p:cNvSpPr txBox="1"/>
          <p:nvPr/>
        </p:nvSpPr>
        <p:spPr>
          <a:xfrm>
            <a:off x="822960" y="6217920"/>
            <a:ext cx="10545775" cy="365760"/>
          </a:xfrm>
          <a:prstGeom prst="rect">
            <a:avLst/>
          </a:prstGeom>
          <a:noFill/>
        </p:spPr>
        <p:txBody>
          <a:bodyPr wrap="none">
            <a:spAutoFit/>
          </a:bodyPr>
          <a:lstStyle/>
          <a:p>
            <a:pPr>
              <a:defRPr sz="1100">
                <a:solidFill>
                  <a:srgbClr val="475569"/>
                </a:solidFill>
                <a:latin typeface="Arial"/>
              </a:defRPr>
            </a:pPr>
            <a:r>
              <a:t>ISRO • ISTRAC LUCKNOW</a:t>
            </a:r>
          </a:p>
          <a:p>
            <a:pPr algn="r">
              <a:defRPr sz="1100">
                <a:solidFill>
                  <a:srgbClr val="475569"/>
                </a:solidFill>
                <a:latin typeface="Arial"/>
              </a:defRPr>
            </a:pPr>
            <a:r>
              <a:t>Slide 21 / 28</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457200"/>
            <a:ext cx="10545775" cy="914400"/>
          </a:xfrm>
          <a:prstGeom prst="rect">
            <a:avLst/>
          </a:prstGeom>
          <a:noFill/>
        </p:spPr>
        <p:txBody>
          <a:bodyPr wrap="square" lIns="0" tIns="0" rIns="0" bIns="0">
            <a:spAutoFit/>
          </a:bodyPr>
          <a:lstStyle/>
          <a:p>
            <a:pPr>
              <a:defRPr sz="3200" b="1">
                <a:solidFill>
                  <a:srgbClr val="0F172A"/>
                </a:solidFill>
                <a:latin typeface="Arial"/>
              </a:defRPr>
            </a:pPr>
            <a:r>
              <a:t>Core Engineering Decisions &amp; Logic</a:t>
            </a:r>
          </a:p>
        </p:txBody>
      </p:sp>
      <p:sp>
        <p:nvSpPr>
          <p:cNvPr id="4" name="Rectangle 3"/>
          <p:cNvSpPr/>
          <p:nvPr/>
        </p:nvSpPr>
        <p:spPr>
          <a:xfrm>
            <a:off x="822960" y="1280160"/>
            <a:ext cx="10545775" cy="27432"/>
          </a:xfrm>
          <a:prstGeom prst="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822960" y="1737360"/>
          <a:ext cx="10545775" cy="3931920"/>
        </p:xfrm>
        <a:graphic>
          <a:graphicData uri="http://schemas.openxmlformats.org/drawingml/2006/table">
            <a:tbl>
              <a:tblPr firstRow="1" bandRow="1">
                <a:tableStyleId>{5C22544A-7EE6-4342-B048-85BDC9FD1C3A}</a:tableStyleId>
              </a:tblPr>
              <a:tblGrid>
                <a:gridCol w="2560320"/>
                <a:gridCol w="2926080"/>
                <a:gridCol w="5059375"/>
              </a:tblGrid>
              <a:tr h="655320">
                <a:tc>
                  <a:txBody>
                    <a:bodyPr/>
                    <a:lstStyle/>
                    <a:p>
                      <a:pPr>
                        <a:defRPr b="1" sz="1300">
                          <a:solidFill>
                            <a:srgbClr val="FFFFFF"/>
                          </a:solidFill>
                        </a:defRPr>
                      </a:pPr>
                      <a:r>
                        <a:t>Design Choice</a:t>
                      </a:r>
                    </a:p>
                  </a:txBody>
                  <a:tcPr>
                    <a:solidFill>
                      <a:srgbClr val="0A0F1D"/>
                    </a:solidFill>
                  </a:tcPr>
                </a:tc>
                <a:tc>
                  <a:txBody>
                    <a:bodyPr/>
                    <a:lstStyle/>
                    <a:p>
                      <a:pPr>
                        <a:defRPr b="1" sz="1300">
                          <a:solidFill>
                            <a:srgbClr val="FFFFFF"/>
                          </a:solidFill>
                        </a:defRPr>
                      </a:pPr>
                      <a:r>
                        <a:t>Alternative Evaluated</a:t>
                      </a:r>
                    </a:p>
                  </a:txBody>
                  <a:tcPr>
                    <a:solidFill>
                      <a:srgbClr val="0A0F1D"/>
                    </a:solidFill>
                  </a:tcPr>
                </a:tc>
                <a:tc>
                  <a:txBody>
                    <a:bodyPr/>
                    <a:lstStyle/>
                    <a:p>
                      <a:pPr>
                        <a:defRPr b="1" sz="1300">
                          <a:solidFill>
                            <a:srgbClr val="FFFFFF"/>
                          </a:solidFill>
                        </a:defRPr>
                      </a:pPr>
                      <a:r>
                        <a:t>Selected Engineering Rationale</a:t>
                      </a:r>
                    </a:p>
                  </a:txBody>
                  <a:tcPr>
                    <a:solidFill>
                      <a:srgbClr val="0A0F1D"/>
                    </a:solidFill>
                  </a:tcPr>
                </a:tc>
              </a:tr>
              <a:tr h="655320">
                <a:tc>
                  <a:txBody>
                    <a:bodyPr/>
                    <a:lstStyle/>
                    <a:p>
                      <a:pPr>
                        <a:defRPr sz="1100">
                          <a:solidFill>
                            <a:srgbClr val="475569"/>
                          </a:solidFill>
                        </a:defRPr>
                      </a:pPr>
                      <a:r>
                        <a:t>Kafka Ingestion Buffer</a:t>
                      </a:r>
                    </a:p>
                  </a:txBody>
                  <a:tcPr>
                    <a:solidFill>
                      <a:srgbClr val="F1F5F9"/>
                    </a:solidFill>
                  </a:tcPr>
                </a:tc>
                <a:tc>
                  <a:txBody>
                    <a:bodyPr/>
                    <a:lstStyle/>
                    <a:p>
                      <a:pPr>
                        <a:defRPr sz="1100">
                          <a:solidFill>
                            <a:srgbClr val="475569"/>
                          </a:solidFill>
                        </a:defRPr>
                      </a:pPr>
                      <a:r>
                        <a:t>Direct Database Writing</a:t>
                      </a:r>
                    </a:p>
                  </a:txBody>
                  <a:tcPr>
                    <a:solidFill>
                      <a:srgbClr val="F1F5F9"/>
                    </a:solidFill>
                  </a:tcPr>
                </a:tc>
                <a:tc>
                  <a:txBody>
                    <a:bodyPr/>
                    <a:lstStyle/>
                    <a:p>
                      <a:pPr>
                        <a:defRPr sz="1100">
                          <a:solidFill>
                            <a:srgbClr val="475569"/>
                          </a:solidFill>
                        </a:defRPr>
                      </a:pPr>
                      <a:r>
                        <a:t>Protects primary databases from packet losses during mass client restarts.</a:t>
                      </a:r>
                    </a:p>
                  </a:txBody>
                  <a:tcPr>
                    <a:solidFill>
                      <a:srgbClr val="F1F5F9"/>
                    </a:solidFill>
                  </a:tcPr>
                </a:tc>
              </a:tr>
              <a:tr h="655320">
                <a:tc>
                  <a:txBody>
                    <a:bodyPr/>
                    <a:lstStyle/>
                    <a:p>
                      <a:pPr>
                        <a:defRPr sz="1100">
                          <a:solidFill>
                            <a:srgbClr val="475569"/>
                          </a:solidFill>
                        </a:defRPr>
                      </a:pPr>
                      <a:r>
                        <a:t>ClickHouse for Metrics</a:t>
                      </a:r>
                    </a:p>
                  </a:txBody>
                  <a:tcPr>
                    <a:solidFill>
                      <a:srgbClr val="FFFFFF"/>
                    </a:solidFill>
                  </a:tcPr>
                </a:tc>
                <a:tc>
                  <a:txBody>
                    <a:bodyPr/>
                    <a:lstStyle/>
                    <a:p>
                      <a:pPr>
                        <a:defRPr sz="1100">
                          <a:solidFill>
                            <a:srgbClr val="475569"/>
                          </a:solidFill>
                        </a:defRPr>
                      </a:pPr>
                      <a:r>
                        <a:t>PostgreSQL-Only Setup</a:t>
                      </a:r>
                    </a:p>
                  </a:txBody>
                  <a:tcPr>
                    <a:solidFill>
                      <a:srgbClr val="FFFFFF"/>
                    </a:solidFill>
                  </a:tcPr>
                </a:tc>
                <a:tc>
                  <a:txBody>
                    <a:bodyPr/>
                    <a:lstStyle/>
                    <a:p>
                      <a:pPr>
                        <a:defRPr sz="1100">
                          <a:solidFill>
                            <a:srgbClr val="475569"/>
                          </a:solidFill>
                        </a:defRPr>
                      </a:pPr>
                      <a:r>
                        <a:t>ClickHouse optimizes analytical storage footprint and queries for massive trends.</a:t>
                      </a:r>
                    </a:p>
                  </a:txBody>
                  <a:tcPr>
                    <a:solidFill>
                      <a:srgbClr val="FFFFFF"/>
                    </a:solidFill>
                  </a:tcPr>
                </a:tc>
              </a:tr>
              <a:tr h="655320">
                <a:tc>
                  <a:txBody>
                    <a:bodyPr/>
                    <a:lstStyle/>
                    <a:p>
                      <a:pPr>
                        <a:defRPr sz="1100">
                          <a:solidFill>
                            <a:srgbClr val="475569"/>
                          </a:solidFill>
                        </a:defRPr>
                      </a:pPr>
                      <a:r>
                        <a:t>Fastify Framework</a:t>
                      </a:r>
                    </a:p>
                  </a:txBody>
                  <a:tcPr>
                    <a:solidFill>
                      <a:srgbClr val="F1F5F9"/>
                    </a:solidFill>
                  </a:tcPr>
                </a:tc>
                <a:tc>
                  <a:txBody>
                    <a:bodyPr/>
                    <a:lstStyle/>
                    <a:p>
                      <a:pPr>
                        <a:defRPr sz="1100">
                          <a:solidFill>
                            <a:srgbClr val="475569"/>
                          </a:solidFill>
                        </a:defRPr>
                      </a:pPr>
                      <a:r>
                        <a:t>Standard Express.js Engine</a:t>
                      </a:r>
                    </a:p>
                  </a:txBody>
                  <a:tcPr>
                    <a:solidFill>
                      <a:srgbClr val="F1F5F9"/>
                    </a:solidFill>
                  </a:tcPr>
                </a:tc>
                <a:tc>
                  <a:txBody>
                    <a:bodyPr/>
                    <a:lstStyle/>
                    <a:p>
                      <a:pPr>
                        <a:defRPr sz="1100">
                          <a:solidFill>
                            <a:srgbClr val="475569"/>
                          </a:solidFill>
                        </a:defRPr>
                      </a:pPr>
                      <a:r>
                        <a:t>Delivers higher throughput and lower memory overhead for high API volumes.</a:t>
                      </a:r>
                    </a:p>
                  </a:txBody>
                  <a:tcPr>
                    <a:solidFill>
                      <a:srgbClr val="F1F5F9"/>
                    </a:solidFill>
                  </a:tcPr>
                </a:tc>
              </a:tr>
              <a:tr h="655320">
                <a:tc>
                  <a:txBody>
                    <a:bodyPr/>
                    <a:lstStyle/>
                    <a:p>
                      <a:pPr>
                        <a:defRPr sz="1100">
                          <a:solidFill>
                            <a:srgbClr val="475569"/>
                          </a:solidFill>
                        </a:defRPr>
                      </a:pPr>
                      <a:r>
                        <a:t>Redis PubSub Events</a:t>
                      </a:r>
                    </a:p>
                  </a:txBody>
                  <a:tcPr>
                    <a:solidFill>
                      <a:srgbClr val="FFFFFF"/>
                    </a:solidFill>
                  </a:tcPr>
                </a:tc>
                <a:tc>
                  <a:txBody>
                    <a:bodyPr/>
                    <a:lstStyle/>
                    <a:p>
                      <a:pPr>
                        <a:defRPr sz="1100">
                          <a:solidFill>
                            <a:srgbClr val="475569"/>
                          </a:solidFill>
                        </a:defRPr>
                      </a:pPr>
                      <a:r>
                        <a:t>Database Polling Logic</a:t>
                      </a:r>
                    </a:p>
                  </a:txBody>
                  <a:tcPr>
                    <a:solidFill>
                      <a:srgbClr val="FFFFFF"/>
                    </a:solidFill>
                  </a:tcPr>
                </a:tc>
                <a:tc>
                  <a:txBody>
                    <a:bodyPr/>
                    <a:lstStyle/>
                    <a:p>
                      <a:pPr>
                        <a:defRPr sz="1100">
                          <a:solidFill>
                            <a:srgbClr val="475569"/>
                          </a:solidFill>
                        </a:defRPr>
                      </a:pPr>
                      <a:r>
                        <a:t>Allows direct messaging to web clients without database performance penalties.</a:t>
                      </a:r>
                    </a:p>
                  </a:txBody>
                  <a:tcPr>
                    <a:solidFill>
                      <a:srgbClr val="FFFFFF"/>
                    </a:solidFill>
                  </a:tcPr>
                </a:tc>
              </a:tr>
              <a:tr h="655320">
                <a:tc>
                  <a:txBody>
                    <a:bodyPr/>
                    <a:lstStyle/>
                    <a:p>
                      <a:pPr>
                        <a:defRPr sz="1100">
                          <a:solidFill>
                            <a:srgbClr val="475569"/>
                          </a:solidFill>
                        </a:defRPr>
                      </a:pPr>
                      <a:r>
                        <a:t>Agent-Based Monitoring</a:t>
                      </a:r>
                    </a:p>
                  </a:txBody>
                  <a:tcPr>
                    <a:solidFill>
                      <a:srgbClr val="F1F5F9"/>
                    </a:solidFill>
                  </a:tcPr>
                </a:tc>
                <a:tc>
                  <a:txBody>
                    <a:bodyPr/>
                    <a:lstStyle/>
                    <a:p>
                      <a:pPr>
                        <a:defRPr sz="1100">
                          <a:solidFill>
                            <a:srgbClr val="475569"/>
                          </a:solidFill>
                        </a:defRPr>
                      </a:pPr>
                      <a:r>
                        <a:t>Agentless SNMP Only</a:t>
                      </a:r>
                    </a:p>
                  </a:txBody>
                  <a:tcPr>
                    <a:solidFill>
                      <a:srgbClr val="F1F5F9"/>
                    </a:solidFill>
                  </a:tcPr>
                </a:tc>
                <a:tc>
                  <a:txBody>
                    <a:bodyPr/>
                    <a:lstStyle/>
                    <a:p>
                      <a:pPr>
                        <a:defRPr sz="1100">
                          <a:solidFill>
                            <a:srgbClr val="475569"/>
                          </a:solidFill>
                        </a:defRPr>
                      </a:pPr>
                      <a:r>
                        <a:t>Provides better local security control and accurate resource diagnostics.</a:t>
                      </a:r>
                    </a:p>
                  </a:txBody>
                  <a:tcPr>
                    <a:solidFill>
                      <a:srgbClr val="F1F5F9"/>
                    </a:solidFill>
                  </a:tcPr>
                </a:tc>
              </a:tr>
            </a:tbl>
          </a:graphicData>
        </a:graphic>
      </p:graphicFrame>
      <p:sp>
        <p:nvSpPr>
          <p:cNvPr id="6" name="TextBox 5"/>
          <p:cNvSpPr txBox="1"/>
          <p:nvPr/>
        </p:nvSpPr>
        <p:spPr>
          <a:xfrm>
            <a:off x="822960" y="6217920"/>
            <a:ext cx="10545775" cy="365760"/>
          </a:xfrm>
          <a:prstGeom prst="rect">
            <a:avLst/>
          </a:prstGeom>
          <a:noFill/>
        </p:spPr>
        <p:txBody>
          <a:bodyPr wrap="none">
            <a:spAutoFit/>
          </a:bodyPr>
          <a:lstStyle/>
          <a:p>
            <a:pPr>
              <a:defRPr sz="1100">
                <a:solidFill>
                  <a:srgbClr val="475569"/>
                </a:solidFill>
                <a:latin typeface="Arial"/>
              </a:defRPr>
            </a:pPr>
            <a:r>
              <a:t>ISRO • ISTRAC LUCKNOW</a:t>
            </a:r>
          </a:p>
          <a:p>
            <a:pPr algn="r">
              <a:defRPr sz="1100">
                <a:solidFill>
                  <a:srgbClr val="475569"/>
                </a:solidFill>
                <a:latin typeface="Arial"/>
              </a:defRPr>
            </a:pPr>
            <a:r>
              <a:t>Slide 22 / 28</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457200"/>
            <a:ext cx="10545775" cy="914400"/>
          </a:xfrm>
          <a:prstGeom prst="rect">
            <a:avLst/>
          </a:prstGeom>
          <a:noFill/>
        </p:spPr>
        <p:txBody>
          <a:bodyPr wrap="square" lIns="0" tIns="0" rIns="0" bIns="0">
            <a:spAutoFit/>
          </a:bodyPr>
          <a:lstStyle/>
          <a:p>
            <a:pPr>
              <a:defRPr sz="3200" b="1">
                <a:solidFill>
                  <a:srgbClr val="0F172A"/>
                </a:solidFill>
                <a:latin typeface="Arial"/>
              </a:defRPr>
            </a:pPr>
            <a:r>
              <a:t>Results Achieved &amp; Validated</a:t>
            </a:r>
          </a:p>
        </p:txBody>
      </p:sp>
      <p:sp>
        <p:nvSpPr>
          <p:cNvPr id="4" name="Rectangle 3"/>
          <p:cNvSpPr/>
          <p:nvPr/>
        </p:nvSpPr>
        <p:spPr>
          <a:xfrm>
            <a:off x="822960" y="1280160"/>
            <a:ext cx="10545775" cy="27432"/>
          </a:xfrm>
          <a:prstGeom prst="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737360"/>
            <a:ext cx="10545775" cy="4114800"/>
          </a:xfrm>
          <a:prstGeom prst="rect">
            <a:avLst/>
          </a:prstGeom>
          <a:noFill/>
        </p:spPr>
        <p:txBody>
          <a:bodyPr wrap="square" lIns="0" tIns="0" rIns="0" bIns="0">
            <a:spAutoFit/>
          </a:bodyPr>
          <a:lstStyle/>
          <a:p>
            <a:pPr>
              <a:spcAft>
                <a:spcPts val="1200"/>
              </a:spcAft>
              <a:defRPr sz="1600">
                <a:solidFill>
                  <a:srgbClr val="475569"/>
                </a:solidFill>
                <a:latin typeface="Arial"/>
              </a:defRPr>
            </a:pPr>
            <a:r>
              <a:t>•  Validated Multi-Platform Agent: Collected OS-level metrics across different machines.</a:t>
            </a:r>
          </a:p>
          <a:p>
            <a:pPr>
              <a:spcAft>
                <a:spcPts val="1200"/>
              </a:spcAft>
              <a:defRPr sz="1600">
                <a:solidFill>
                  <a:srgbClr val="475569"/>
                </a:solidFill>
                <a:latin typeface="Arial"/>
              </a:defRPr>
            </a:pPr>
            <a:r>
              <a:t>•  Stable Ingestion Pipeline: Ingested and processed metrics through Kafka.</a:t>
            </a:r>
          </a:p>
          <a:p>
            <a:pPr>
              <a:spcAft>
                <a:spcPts val="1200"/>
              </a:spcAft>
              <a:defRPr sz="1600">
                <a:solidFill>
                  <a:srgbClr val="475569"/>
                </a:solidFill>
                <a:latin typeface="Arial"/>
              </a:defRPr>
            </a:pPr>
            <a:r>
              <a:t>•  Sub-2s Web Client Updates: Handled websocket pushes in under 2 seconds.</a:t>
            </a:r>
          </a:p>
          <a:p>
            <a:pPr>
              <a:spcAft>
                <a:spcPts val="1200"/>
              </a:spcAft>
              <a:defRPr sz="1600">
                <a:solidFill>
                  <a:srgbClr val="475569"/>
                </a:solidFill>
                <a:latin typeface="Arial"/>
              </a:defRPr>
            </a:pPr>
            <a:r>
              <a:t>•  Integrated Dual DB Strategy: Validated both state storage and time-series writing.</a:t>
            </a:r>
          </a:p>
          <a:p>
            <a:pPr>
              <a:spcAft>
                <a:spcPts val="1200"/>
              </a:spcAft>
              <a:defRPr sz="1600">
                <a:solidFill>
                  <a:srgbClr val="475569"/>
                </a:solidFill>
                <a:latin typeface="Arial"/>
              </a:defRPr>
            </a:pPr>
            <a:r>
              <a:t>•  Automated Alert Lifecycle: Confirmed warning and critical problem workflows.</a:t>
            </a:r>
          </a:p>
          <a:p>
            <a:pPr>
              <a:spcAft>
                <a:spcPts val="1200"/>
              </a:spcAft>
              <a:defRPr sz="1600">
                <a:solidFill>
                  <a:srgbClr val="475569"/>
                </a:solidFill>
                <a:latin typeface="Arial"/>
              </a:defRPr>
            </a:pPr>
            <a:r>
              <a:t>•  Dynamic Ingestion Control: Built stable, format-agnostic payload processors.</a:t>
            </a:r>
          </a:p>
        </p:txBody>
      </p:sp>
      <p:sp>
        <p:nvSpPr>
          <p:cNvPr id="6" name="TextBox 5"/>
          <p:cNvSpPr txBox="1"/>
          <p:nvPr/>
        </p:nvSpPr>
        <p:spPr>
          <a:xfrm>
            <a:off x="822960" y="6217920"/>
            <a:ext cx="10545775" cy="365760"/>
          </a:xfrm>
          <a:prstGeom prst="rect">
            <a:avLst/>
          </a:prstGeom>
          <a:noFill/>
        </p:spPr>
        <p:txBody>
          <a:bodyPr wrap="none">
            <a:spAutoFit/>
          </a:bodyPr>
          <a:lstStyle/>
          <a:p>
            <a:pPr>
              <a:defRPr sz="1100">
                <a:solidFill>
                  <a:srgbClr val="475569"/>
                </a:solidFill>
                <a:latin typeface="Arial"/>
              </a:defRPr>
            </a:pPr>
            <a:r>
              <a:t>ISRO • ISTRAC LUCKNOW</a:t>
            </a:r>
          </a:p>
          <a:p>
            <a:pPr algn="r">
              <a:defRPr sz="1100">
                <a:solidFill>
                  <a:srgbClr val="475569"/>
                </a:solidFill>
                <a:latin typeface="Arial"/>
              </a:defRPr>
            </a:pPr>
            <a:r>
              <a:t>Slide 23 / 28</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457200"/>
            <a:ext cx="10545775" cy="914400"/>
          </a:xfrm>
          <a:prstGeom prst="rect">
            <a:avLst/>
          </a:prstGeom>
          <a:noFill/>
        </p:spPr>
        <p:txBody>
          <a:bodyPr wrap="square" lIns="0" tIns="0" rIns="0" bIns="0">
            <a:spAutoFit/>
          </a:bodyPr>
          <a:lstStyle/>
          <a:p>
            <a:pPr>
              <a:defRPr sz="3200" b="1">
                <a:solidFill>
                  <a:srgbClr val="0F172A"/>
                </a:solidFill>
                <a:latin typeface="Arial"/>
              </a:defRPr>
            </a:pPr>
            <a:r>
              <a:t>Comparison with Enterprise Zabbix</a:t>
            </a:r>
          </a:p>
        </p:txBody>
      </p:sp>
      <p:sp>
        <p:nvSpPr>
          <p:cNvPr id="4" name="Rectangle 3"/>
          <p:cNvSpPr/>
          <p:nvPr/>
        </p:nvSpPr>
        <p:spPr>
          <a:xfrm>
            <a:off x="822960" y="1280160"/>
            <a:ext cx="10545775" cy="27432"/>
          </a:xfrm>
          <a:prstGeom prst="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822960" y="1737360"/>
          <a:ext cx="10545775" cy="3931920"/>
        </p:xfrm>
        <a:graphic>
          <a:graphicData uri="http://schemas.openxmlformats.org/drawingml/2006/table">
            <a:tbl>
              <a:tblPr firstRow="1" bandRow="1">
                <a:tableStyleId>{5C22544A-7EE6-4342-B048-85BDC9FD1C3A}</a:tableStyleId>
              </a:tblPr>
              <a:tblGrid>
                <a:gridCol w="2560320"/>
                <a:gridCol w="3931920"/>
                <a:gridCol w="4053535"/>
              </a:tblGrid>
              <a:tr h="561702">
                <a:tc>
                  <a:txBody>
                    <a:bodyPr/>
                    <a:lstStyle/>
                    <a:p>
                      <a:pPr>
                        <a:defRPr b="1" sz="1300">
                          <a:solidFill>
                            <a:srgbClr val="FFFFFF"/>
                          </a:solidFill>
                        </a:defRPr>
                      </a:pPr>
                      <a:r>
                        <a:t>Monitoring Capabilities</a:t>
                      </a:r>
                    </a:p>
                  </a:txBody>
                  <a:tcPr>
                    <a:solidFill>
                      <a:srgbClr val="0A0F1D"/>
                    </a:solidFill>
                  </a:tcPr>
                </a:tc>
                <a:tc>
                  <a:txBody>
                    <a:bodyPr/>
                    <a:lstStyle/>
                    <a:p>
                      <a:pPr>
                        <a:defRPr b="1" sz="1300">
                          <a:solidFill>
                            <a:srgbClr val="FFFFFF"/>
                          </a:solidFill>
                        </a:defRPr>
                      </a:pPr>
                      <a:r>
                        <a:t>Enterprise Zabbix Platform</a:t>
                      </a:r>
                    </a:p>
                  </a:txBody>
                  <a:tcPr>
                    <a:solidFill>
                      <a:srgbClr val="0A0F1D"/>
                    </a:solidFill>
                  </a:tcPr>
                </a:tc>
                <a:tc>
                  <a:txBody>
                    <a:bodyPr/>
                    <a:lstStyle/>
                    <a:p>
                      <a:pPr>
                        <a:defRPr b="1" sz="1300">
                          <a:solidFill>
                            <a:srgbClr val="FFFFFF"/>
                          </a:solidFill>
                        </a:defRPr>
                      </a:pPr>
                      <a:r>
                        <a:t>This Platform Prototype</a:t>
                      </a:r>
                    </a:p>
                  </a:txBody>
                  <a:tcPr>
                    <a:solidFill>
                      <a:srgbClr val="0A0F1D"/>
                    </a:solidFill>
                  </a:tcPr>
                </a:tc>
              </a:tr>
              <a:tr h="561702">
                <a:tc>
                  <a:txBody>
                    <a:bodyPr/>
                    <a:lstStyle/>
                    <a:p>
                      <a:pPr>
                        <a:defRPr sz="1100">
                          <a:solidFill>
                            <a:srgbClr val="475569"/>
                          </a:solidFill>
                        </a:defRPr>
                      </a:pPr>
                      <a:r>
                        <a:t>Host Hardware Agent</a:t>
                      </a:r>
                    </a:p>
                  </a:txBody>
                  <a:tcPr>
                    <a:solidFill>
                      <a:srgbClr val="F1F5F9"/>
                    </a:solidFill>
                  </a:tcPr>
                </a:tc>
                <a:tc>
                  <a:txBody>
                    <a:bodyPr/>
                    <a:lstStyle/>
                    <a:p>
                      <a:pPr>
                        <a:defRPr sz="1100">
                          <a:solidFill>
                            <a:srgbClr val="475569"/>
                          </a:solidFill>
                        </a:defRPr>
                      </a:pPr>
                      <a:r>
                        <a:t>Yes (Native compiled binary targets)</a:t>
                      </a:r>
                    </a:p>
                  </a:txBody>
                  <a:tcPr>
                    <a:solidFill>
                      <a:srgbClr val="F1F5F9"/>
                    </a:solidFill>
                  </a:tcPr>
                </a:tc>
                <a:tc>
                  <a:txBody>
                    <a:bodyPr/>
                    <a:lstStyle/>
                    <a:p>
                      <a:pPr>
                        <a:defRPr sz="1100">
                          <a:solidFill>
                            <a:srgbClr val="475569"/>
                          </a:solidFill>
                        </a:defRPr>
                      </a:pPr>
                      <a:r>
                        <a:t>Yes (Lightweight zero-dependency Node.js client)</a:t>
                      </a:r>
                    </a:p>
                  </a:txBody>
                  <a:tcPr>
                    <a:solidFill>
                      <a:srgbClr val="F1F5F9"/>
                    </a:solidFill>
                  </a:tcPr>
                </a:tc>
              </a:tr>
              <a:tr h="561702">
                <a:tc>
                  <a:txBody>
                    <a:bodyPr/>
                    <a:lstStyle/>
                    <a:p>
                      <a:pPr>
                        <a:defRPr sz="1100">
                          <a:solidFill>
                            <a:srgbClr val="475569"/>
                          </a:solidFill>
                        </a:defRPr>
                      </a:pPr>
                      <a:r>
                        <a:t>Alert Trigger Engine</a:t>
                      </a:r>
                    </a:p>
                  </a:txBody>
                  <a:tcPr>
                    <a:solidFill>
                      <a:srgbClr val="FFFFFF"/>
                    </a:solidFill>
                  </a:tcPr>
                </a:tc>
                <a:tc>
                  <a:txBody>
                    <a:bodyPr/>
                    <a:lstStyle/>
                    <a:p>
                      <a:pPr>
                        <a:defRPr sz="1100">
                          <a:solidFill>
                            <a:srgbClr val="475569"/>
                          </a:solidFill>
                        </a:defRPr>
                      </a:pPr>
                      <a:r>
                        <a:t>Yes (Complex expression syntax mapping)</a:t>
                      </a:r>
                    </a:p>
                  </a:txBody>
                  <a:tcPr>
                    <a:solidFill>
                      <a:srgbClr val="FFFFFF"/>
                    </a:solidFill>
                  </a:tcPr>
                </a:tc>
                <a:tc>
                  <a:txBody>
                    <a:bodyPr/>
                    <a:lstStyle/>
                    <a:p>
                      <a:pPr>
                        <a:defRPr sz="1100">
                          <a:solidFill>
                            <a:srgbClr val="475569"/>
                          </a:solidFill>
                        </a:defRPr>
                      </a:pPr>
                      <a:r>
                        <a:t>Yes (Simple parameter check-ins)</a:t>
                      </a:r>
                    </a:p>
                  </a:txBody>
                  <a:tcPr>
                    <a:solidFill>
                      <a:srgbClr val="FFFFFF"/>
                    </a:solidFill>
                  </a:tcPr>
                </a:tc>
              </a:tr>
              <a:tr h="561702">
                <a:tc>
                  <a:txBody>
                    <a:bodyPr/>
                    <a:lstStyle/>
                    <a:p>
                      <a:pPr>
                        <a:defRPr sz="1100">
                          <a:solidFill>
                            <a:srgbClr val="475569"/>
                          </a:solidFill>
                        </a:defRPr>
                      </a:pPr>
                      <a:r>
                        <a:t>Alert Lifecycle Management</a:t>
                      </a:r>
                    </a:p>
                  </a:txBody>
                  <a:tcPr>
                    <a:solidFill>
                      <a:srgbClr val="F1F5F9"/>
                    </a:solidFill>
                  </a:tcPr>
                </a:tc>
                <a:tc>
                  <a:txBody>
                    <a:bodyPr/>
                    <a:lstStyle/>
                    <a:p>
                      <a:pPr>
                        <a:defRPr sz="1100">
                          <a:solidFill>
                            <a:srgbClr val="475569"/>
                          </a:solidFill>
                        </a:defRPr>
                      </a:pPr>
                      <a:r>
                        <a:t>Yes (Active alerts overview board)</a:t>
                      </a:r>
                    </a:p>
                  </a:txBody>
                  <a:tcPr>
                    <a:solidFill>
                      <a:srgbClr val="F1F5F9"/>
                    </a:solidFill>
                  </a:tcPr>
                </a:tc>
                <a:tc>
                  <a:txBody>
                    <a:bodyPr/>
                    <a:lstStyle/>
                    <a:p>
                      <a:pPr>
                        <a:defRPr sz="1100">
                          <a:solidFill>
                            <a:srgbClr val="475569"/>
                          </a:solidFill>
                        </a:defRPr>
                      </a:pPr>
                      <a:r>
                        <a:t>Yes (Dashboard active problems list)</a:t>
                      </a:r>
                    </a:p>
                  </a:txBody>
                  <a:tcPr>
                    <a:solidFill>
                      <a:srgbClr val="F1F5F9"/>
                    </a:solidFill>
                  </a:tcPr>
                </a:tc>
              </a:tr>
              <a:tr h="561702">
                <a:tc>
                  <a:txBody>
                    <a:bodyPr/>
                    <a:lstStyle/>
                    <a:p>
                      <a:pPr>
                        <a:defRPr sz="1100">
                          <a:solidFill>
                            <a:srgbClr val="475569"/>
                          </a:solidFill>
                        </a:defRPr>
                      </a:pPr>
                      <a:r>
                        <a:t>Real-Time Dashboard updates</a:t>
                      </a:r>
                    </a:p>
                  </a:txBody>
                  <a:tcPr>
                    <a:solidFill>
                      <a:srgbClr val="FFFFFF"/>
                    </a:solidFill>
                  </a:tcPr>
                </a:tc>
                <a:tc>
                  <a:txBody>
                    <a:bodyPr/>
                    <a:lstStyle/>
                    <a:p>
                      <a:pPr>
                        <a:defRPr sz="1100">
                          <a:solidFill>
                            <a:srgbClr val="475569"/>
                          </a:solidFill>
                        </a:defRPr>
                      </a:pPr>
                      <a:r>
                        <a:t>Yes (Often uses polling configurations)</a:t>
                      </a:r>
                    </a:p>
                  </a:txBody>
                  <a:tcPr>
                    <a:solidFill>
                      <a:srgbClr val="FFFFFF"/>
                    </a:solidFill>
                  </a:tcPr>
                </a:tc>
                <a:tc>
                  <a:txBody>
                    <a:bodyPr/>
                    <a:lstStyle/>
                    <a:p>
                      <a:pPr>
                        <a:defRPr sz="1100">
                          <a:solidFill>
                            <a:srgbClr val="475569"/>
                          </a:solidFill>
                        </a:defRPr>
                      </a:pPr>
                      <a:r>
                        <a:t>Yes (Direct WebSocket streaming updates)</a:t>
                      </a:r>
                    </a:p>
                  </a:txBody>
                  <a:tcPr>
                    <a:solidFill>
                      <a:srgbClr val="FFFFFF"/>
                    </a:solidFill>
                  </a:tcPr>
                </a:tc>
              </a:tr>
              <a:tr h="561702">
                <a:tc>
                  <a:txBody>
                    <a:bodyPr/>
                    <a:lstStyle/>
                    <a:p>
                      <a:pPr>
                        <a:defRPr sz="1100">
                          <a:solidFill>
                            <a:srgbClr val="475569"/>
                          </a:solidFill>
                        </a:defRPr>
                      </a:pPr>
                      <a:r>
                        <a:t>Host Autodiscovery Engine</a:t>
                      </a:r>
                    </a:p>
                  </a:txBody>
                  <a:tcPr>
                    <a:solidFill>
                      <a:srgbClr val="F1F5F9"/>
                    </a:solidFill>
                  </a:tcPr>
                </a:tc>
                <a:tc>
                  <a:txBody>
                    <a:bodyPr/>
                    <a:lstStyle/>
                    <a:p>
                      <a:pPr>
                        <a:defRPr sz="1100">
                          <a:solidFill>
                            <a:srgbClr val="475569"/>
                          </a:solidFill>
                        </a:defRPr>
                      </a:pPr>
                      <a:r>
                        <a:t>Yes (IP and SNMP subnet scans)</a:t>
                      </a:r>
                    </a:p>
                  </a:txBody>
                  <a:tcPr>
                    <a:solidFill>
                      <a:srgbClr val="F1F5F9"/>
                    </a:solidFill>
                  </a:tcPr>
                </a:tc>
                <a:tc>
                  <a:txBody>
                    <a:bodyPr/>
                    <a:lstStyle/>
                    <a:p>
                      <a:pPr>
                        <a:defRPr sz="1100">
                          <a:solidFill>
                            <a:srgbClr val="475569"/>
                          </a:solidFill>
                        </a:defRPr>
                      </a:pPr>
                      <a:r>
                        <a:t>Planned for future roadmap stages</a:t>
                      </a:r>
                    </a:p>
                  </a:txBody>
                  <a:tcPr>
                    <a:solidFill>
                      <a:srgbClr val="F1F5F9"/>
                    </a:solidFill>
                  </a:tcPr>
                </a:tc>
              </a:tr>
              <a:tr h="561708">
                <a:tc>
                  <a:txBody>
                    <a:bodyPr/>
                    <a:lstStyle/>
                    <a:p>
                      <a:pPr>
                        <a:defRPr sz="1100">
                          <a:solidFill>
                            <a:srgbClr val="475569"/>
                          </a:solidFill>
                        </a:defRPr>
                      </a:pPr>
                      <a:r>
                        <a:t>Agentless SNMP Monitoring</a:t>
                      </a:r>
                    </a:p>
                  </a:txBody>
                  <a:tcPr>
                    <a:solidFill>
                      <a:srgbClr val="FFFFFF"/>
                    </a:solidFill>
                  </a:tcPr>
                </a:tc>
                <a:tc>
                  <a:txBody>
                    <a:bodyPr/>
                    <a:lstStyle/>
                    <a:p>
                      <a:pPr>
                        <a:defRPr sz="1100">
                          <a:solidFill>
                            <a:srgbClr val="475569"/>
                          </a:solidFill>
                        </a:defRPr>
                      </a:pPr>
                      <a:r>
                        <a:t>Yes (Comprehensive poller system)</a:t>
                      </a:r>
                    </a:p>
                  </a:txBody>
                  <a:tcPr>
                    <a:solidFill>
                      <a:srgbClr val="FFFFFF"/>
                    </a:solidFill>
                  </a:tcPr>
                </a:tc>
                <a:tc>
                  <a:txBody>
                    <a:bodyPr/>
                    <a:lstStyle/>
                    <a:p>
                      <a:pPr>
                        <a:defRPr sz="1100">
                          <a:solidFill>
                            <a:srgbClr val="475569"/>
                          </a:solidFill>
                        </a:defRPr>
                      </a:pPr>
                      <a:r>
                        <a:t>Planned for future roadmap stages</a:t>
                      </a:r>
                    </a:p>
                  </a:txBody>
                  <a:tcPr>
                    <a:solidFill>
                      <a:srgbClr val="FFFFFF"/>
                    </a:solidFill>
                  </a:tcPr>
                </a:tc>
              </a:tr>
            </a:tbl>
          </a:graphicData>
        </a:graphic>
      </p:graphicFrame>
      <p:sp>
        <p:nvSpPr>
          <p:cNvPr id="6" name="TextBox 5"/>
          <p:cNvSpPr txBox="1"/>
          <p:nvPr/>
        </p:nvSpPr>
        <p:spPr>
          <a:xfrm>
            <a:off x="822960" y="6217920"/>
            <a:ext cx="10545775" cy="365760"/>
          </a:xfrm>
          <a:prstGeom prst="rect">
            <a:avLst/>
          </a:prstGeom>
          <a:noFill/>
        </p:spPr>
        <p:txBody>
          <a:bodyPr wrap="none">
            <a:spAutoFit/>
          </a:bodyPr>
          <a:lstStyle/>
          <a:p>
            <a:pPr>
              <a:defRPr sz="1100">
                <a:solidFill>
                  <a:srgbClr val="475569"/>
                </a:solidFill>
                <a:latin typeface="Arial"/>
              </a:defRPr>
            </a:pPr>
            <a:r>
              <a:t>ISRO • ISTRAC LUCKNOW</a:t>
            </a:r>
          </a:p>
          <a:p>
            <a:pPr algn="r">
              <a:defRPr sz="1100">
                <a:solidFill>
                  <a:srgbClr val="475569"/>
                </a:solidFill>
                <a:latin typeface="Arial"/>
              </a:defRPr>
            </a:pPr>
            <a:r>
              <a:t>Slide 24 / 28</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457200"/>
            <a:ext cx="10545775" cy="914400"/>
          </a:xfrm>
          <a:prstGeom prst="rect">
            <a:avLst/>
          </a:prstGeom>
          <a:noFill/>
        </p:spPr>
        <p:txBody>
          <a:bodyPr wrap="square" lIns="0" tIns="0" rIns="0" bIns="0">
            <a:spAutoFit/>
          </a:bodyPr>
          <a:lstStyle/>
          <a:p>
            <a:pPr>
              <a:defRPr sz="3200" b="1">
                <a:solidFill>
                  <a:srgbClr val="0F172A"/>
                </a:solidFill>
                <a:latin typeface="Arial"/>
              </a:defRPr>
            </a:pPr>
            <a:r>
              <a:t>Platform Prototype Limitations</a:t>
            </a:r>
          </a:p>
        </p:txBody>
      </p:sp>
      <p:sp>
        <p:nvSpPr>
          <p:cNvPr id="4" name="Rectangle 3"/>
          <p:cNvSpPr/>
          <p:nvPr/>
        </p:nvSpPr>
        <p:spPr>
          <a:xfrm>
            <a:off x="822960" y="1280160"/>
            <a:ext cx="10545775" cy="27432"/>
          </a:xfrm>
          <a:prstGeom prst="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737360"/>
            <a:ext cx="10545775" cy="4114800"/>
          </a:xfrm>
          <a:prstGeom prst="rect">
            <a:avLst/>
          </a:prstGeom>
          <a:noFill/>
        </p:spPr>
        <p:txBody>
          <a:bodyPr wrap="square" lIns="0" tIns="0" rIns="0" bIns="0">
            <a:spAutoFit/>
          </a:bodyPr>
          <a:lstStyle/>
          <a:p>
            <a:pPr>
              <a:spcAft>
                <a:spcPts val="1200"/>
              </a:spcAft>
              <a:defRPr sz="1600">
                <a:solidFill>
                  <a:srgbClr val="475569"/>
                </a:solidFill>
                <a:latin typeface="Arial"/>
              </a:defRPr>
            </a:pPr>
            <a:r>
              <a:t>•  No High-Scale Load Testing: Has not been stress-tested under loads representing hundreds of active host connections.</a:t>
            </a:r>
          </a:p>
          <a:p>
            <a:pPr>
              <a:spcAft>
                <a:spcPts val="1200"/>
              </a:spcAft>
              <a:defRPr sz="1600">
                <a:solidFill>
                  <a:srgbClr val="475569"/>
                </a:solidFill>
                <a:latin typeface="Arial"/>
              </a:defRPr>
            </a:pPr>
            <a:r>
              <a:t>•  Lacks Agentless Auditing: No current support for agentless polling via SNMP or ping scans.</a:t>
            </a:r>
          </a:p>
          <a:p>
            <a:pPr>
              <a:spcAft>
                <a:spcPts val="1200"/>
              </a:spcAft>
              <a:defRPr sz="1600">
                <a:solidFill>
                  <a:srgbClr val="475569"/>
                </a:solidFill>
                <a:latin typeface="Arial"/>
              </a:defRPr>
            </a:pPr>
            <a:r>
              <a:t>•  No Out-of-Band Alerts: Out-of-band notifications (SMS, Email, Slack integrations) are not built-in.</a:t>
            </a:r>
          </a:p>
          <a:p>
            <a:pPr>
              <a:spcAft>
                <a:spcPts val="1200"/>
              </a:spcAft>
              <a:defRPr sz="1600">
                <a:solidFill>
                  <a:srgbClr val="475569"/>
                </a:solidFill>
                <a:latin typeface="Arial"/>
              </a:defRPr>
            </a:pPr>
            <a:r>
              <a:t>•  Manual Configuration Model: Adding hosts and updating alert rules requires manual database configurations.</a:t>
            </a:r>
          </a:p>
        </p:txBody>
      </p:sp>
      <p:sp>
        <p:nvSpPr>
          <p:cNvPr id="6" name="TextBox 5"/>
          <p:cNvSpPr txBox="1"/>
          <p:nvPr/>
        </p:nvSpPr>
        <p:spPr>
          <a:xfrm>
            <a:off x="822960" y="6217920"/>
            <a:ext cx="10545775" cy="365760"/>
          </a:xfrm>
          <a:prstGeom prst="rect">
            <a:avLst/>
          </a:prstGeom>
          <a:noFill/>
        </p:spPr>
        <p:txBody>
          <a:bodyPr wrap="none">
            <a:spAutoFit/>
          </a:bodyPr>
          <a:lstStyle/>
          <a:p>
            <a:pPr>
              <a:defRPr sz="1100">
                <a:solidFill>
                  <a:srgbClr val="475569"/>
                </a:solidFill>
                <a:latin typeface="Arial"/>
              </a:defRPr>
            </a:pPr>
            <a:r>
              <a:t>ISRO • ISTRAC LUCKNOW</a:t>
            </a:r>
          </a:p>
          <a:p>
            <a:pPr algn="r">
              <a:defRPr sz="1100">
                <a:solidFill>
                  <a:srgbClr val="475569"/>
                </a:solidFill>
                <a:latin typeface="Arial"/>
              </a:defRPr>
            </a:pPr>
            <a:r>
              <a:t>Slide 25 / 28</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457200"/>
            <a:ext cx="10545775" cy="914400"/>
          </a:xfrm>
          <a:prstGeom prst="rect">
            <a:avLst/>
          </a:prstGeom>
          <a:noFill/>
        </p:spPr>
        <p:txBody>
          <a:bodyPr wrap="square" lIns="0" tIns="0" rIns="0" bIns="0">
            <a:spAutoFit/>
          </a:bodyPr>
          <a:lstStyle/>
          <a:p>
            <a:pPr>
              <a:defRPr sz="3200" b="1">
                <a:solidFill>
                  <a:srgbClr val="0F172A"/>
                </a:solidFill>
                <a:latin typeface="Arial"/>
              </a:defRPr>
            </a:pPr>
            <a:r>
              <a:t>Platform Architecture Future Roadmap</a:t>
            </a:r>
          </a:p>
        </p:txBody>
      </p:sp>
      <p:sp>
        <p:nvSpPr>
          <p:cNvPr id="4" name="Rectangle 3"/>
          <p:cNvSpPr/>
          <p:nvPr/>
        </p:nvSpPr>
        <p:spPr>
          <a:xfrm>
            <a:off x="822960" y="1280160"/>
            <a:ext cx="10545775" cy="27432"/>
          </a:xfrm>
          <a:prstGeom prst="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822960" y="1737360"/>
          <a:ext cx="10545775" cy="3931920"/>
        </p:xfrm>
        <a:graphic>
          <a:graphicData uri="http://schemas.openxmlformats.org/drawingml/2006/table">
            <a:tbl>
              <a:tblPr firstRow="1" bandRow="1">
                <a:tableStyleId>{5C22544A-7EE6-4342-B048-85BDC9FD1C3A}</a:tableStyleId>
              </a:tblPr>
              <a:tblGrid>
                <a:gridCol w="2560320"/>
                <a:gridCol w="2926080"/>
                <a:gridCol w="5059375"/>
              </a:tblGrid>
              <a:tr h="655320">
                <a:tc>
                  <a:txBody>
                    <a:bodyPr/>
                    <a:lstStyle/>
                    <a:p>
                      <a:pPr>
                        <a:defRPr b="1" sz="1300">
                          <a:solidFill>
                            <a:srgbClr val="FFFFFF"/>
                          </a:solidFill>
                        </a:defRPr>
                      </a:pPr>
                      <a:r>
                        <a:t>Proposed Development Extension</a:t>
                      </a:r>
                    </a:p>
                  </a:txBody>
                  <a:tcPr>
                    <a:solidFill>
                      <a:srgbClr val="0A0F1D"/>
                    </a:solidFill>
                  </a:tcPr>
                </a:tc>
                <a:tc>
                  <a:txBody>
                    <a:bodyPr/>
                    <a:lstStyle/>
                    <a:p>
                      <a:pPr>
                        <a:defRPr b="1" sz="1300">
                          <a:solidFill>
                            <a:srgbClr val="FFFFFF"/>
                          </a:solidFill>
                        </a:defRPr>
                      </a:pPr>
                      <a:r>
                        <a:t>Complexity Rating</a:t>
                      </a:r>
                    </a:p>
                  </a:txBody>
                  <a:tcPr>
                    <a:solidFill>
                      <a:srgbClr val="0A0F1D"/>
                    </a:solidFill>
                  </a:tcPr>
                </a:tc>
                <a:tc>
                  <a:txBody>
                    <a:bodyPr/>
                    <a:lstStyle/>
                    <a:p>
                      <a:pPr>
                        <a:defRPr b="1" sz="1300">
                          <a:solidFill>
                            <a:srgbClr val="FFFFFF"/>
                          </a:solidFill>
                        </a:defRPr>
                      </a:pPr>
                      <a:r>
                        <a:t>Strategic System Utility</a:t>
                      </a:r>
                    </a:p>
                  </a:txBody>
                  <a:tcPr>
                    <a:solidFill>
                      <a:srgbClr val="0A0F1D"/>
                    </a:solidFill>
                  </a:tcPr>
                </a:tc>
              </a:tr>
              <a:tr h="655320">
                <a:tc>
                  <a:txBody>
                    <a:bodyPr/>
                    <a:lstStyle/>
                    <a:p>
                      <a:pPr>
                        <a:defRPr sz="1100">
                          <a:solidFill>
                            <a:srgbClr val="475569"/>
                          </a:solidFill>
                        </a:defRPr>
                      </a:pPr>
                      <a:r>
                        <a:t>Kubernetes Deployments</a:t>
                      </a:r>
                    </a:p>
                  </a:txBody>
                  <a:tcPr>
                    <a:solidFill>
                      <a:srgbClr val="F1F5F9"/>
                    </a:solidFill>
                  </a:tcPr>
                </a:tc>
                <a:tc>
                  <a:txBody>
                    <a:bodyPr/>
                    <a:lstStyle/>
                    <a:p>
                      <a:pPr>
                        <a:defRPr sz="1100">
                          <a:solidFill>
                            <a:srgbClr val="475569"/>
                          </a:solidFill>
                        </a:defRPr>
                      </a:pPr>
                      <a:r>
                        <a:t>Medium Complexity</a:t>
                      </a:r>
                    </a:p>
                  </a:txBody>
                  <a:tcPr>
                    <a:solidFill>
                      <a:srgbClr val="F1F5F9"/>
                    </a:solidFill>
                  </a:tcPr>
                </a:tc>
                <a:tc>
                  <a:txBody>
                    <a:bodyPr/>
                    <a:lstStyle/>
                    <a:p>
                      <a:pPr>
                        <a:defRPr sz="1100">
                          <a:solidFill>
                            <a:srgbClr val="475569"/>
                          </a:solidFill>
                        </a:defRPr>
                      </a:pPr>
                      <a:r>
                        <a:t>Eases scaling by running containerized backend services in clustered clouds.</a:t>
                      </a:r>
                    </a:p>
                  </a:txBody>
                  <a:tcPr>
                    <a:solidFill>
                      <a:srgbClr val="F1F5F9"/>
                    </a:solidFill>
                  </a:tcPr>
                </a:tc>
              </a:tr>
              <a:tr h="655320">
                <a:tc>
                  <a:txBody>
                    <a:bodyPr/>
                    <a:lstStyle/>
                    <a:p>
                      <a:pPr>
                        <a:defRPr sz="1100">
                          <a:solidFill>
                            <a:srgbClr val="475569"/>
                          </a:solidFill>
                        </a:defRPr>
                      </a:pPr>
                      <a:r>
                        <a:t>SNMP Poller Framework</a:t>
                      </a:r>
                    </a:p>
                  </a:txBody>
                  <a:tcPr>
                    <a:solidFill>
                      <a:srgbClr val="FFFFFF"/>
                    </a:solidFill>
                  </a:tcPr>
                </a:tc>
                <a:tc>
                  <a:txBody>
                    <a:bodyPr/>
                    <a:lstStyle/>
                    <a:p>
                      <a:pPr>
                        <a:defRPr sz="1100">
                          <a:solidFill>
                            <a:srgbClr val="475569"/>
                          </a:solidFill>
                        </a:defRPr>
                      </a:pPr>
                      <a:r>
                        <a:t>High Complexity</a:t>
                      </a:r>
                    </a:p>
                  </a:txBody>
                  <a:tcPr>
                    <a:solidFill>
                      <a:srgbClr val="FFFFFF"/>
                    </a:solidFill>
                  </a:tcPr>
                </a:tc>
                <a:tc>
                  <a:txBody>
                    <a:bodyPr/>
                    <a:lstStyle/>
                    <a:p>
                      <a:pPr>
                        <a:defRPr sz="1100">
                          <a:solidFill>
                            <a:srgbClr val="475569"/>
                          </a:solidFill>
                        </a:defRPr>
                      </a:pPr>
                      <a:r>
                        <a:t>Brings support for agentless network hardware (routers, switches, firewalls).</a:t>
                      </a:r>
                    </a:p>
                  </a:txBody>
                  <a:tcPr>
                    <a:solidFill>
                      <a:srgbClr val="FFFFFF"/>
                    </a:solidFill>
                  </a:tcPr>
                </a:tc>
              </a:tr>
              <a:tr h="655320">
                <a:tc>
                  <a:txBody>
                    <a:bodyPr/>
                    <a:lstStyle/>
                    <a:p>
                      <a:pPr>
                        <a:defRPr sz="1100">
                          <a:solidFill>
                            <a:srgbClr val="475569"/>
                          </a:solidFill>
                        </a:defRPr>
                      </a:pPr>
                      <a:r>
                        <a:t>Operational Alerts Channels</a:t>
                      </a:r>
                    </a:p>
                  </a:txBody>
                  <a:tcPr>
                    <a:solidFill>
                      <a:srgbClr val="F1F5F9"/>
                    </a:solidFill>
                  </a:tcPr>
                </a:tc>
                <a:tc>
                  <a:txBody>
                    <a:bodyPr/>
                    <a:lstStyle/>
                    <a:p>
                      <a:pPr>
                        <a:defRPr sz="1100">
                          <a:solidFill>
                            <a:srgbClr val="475569"/>
                          </a:solidFill>
                        </a:defRPr>
                      </a:pPr>
                      <a:r>
                        <a:t>Medium Complexity</a:t>
                      </a:r>
                    </a:p>
                  </a:txBody>
                  <a:tcPr>
                    <a:solidFill>
                      <a:srgbClr val="F1F5F9"/>
                    </a:solidFill>
                  </a:tcPr>
                </a:tc>
                <a:tc>
                  <a:txBody>
                    <a:bodyPr/>
                    <a:lstStyle/>
                    <a:p>
                      <a:pPr>
                        <a:defRPr sz="1100">
                          <a:solidFill>
                            <a:srgbClr val="475569"/>
                          </a:solidFill>
                        </a:defRPr>
                      </a:pPr>
                      <a:r>
                        <a:t>Forwards high-priority warnings to operators via Slack, emails, or SMS gateways.</a:t>
                      </a:r>
                    </a:p>
                  </a:txBody>
                  <a:tcPr>
                    <a:solidFill>
                      <a:srgbClr val="F1F5F9"/>
                    </a:solidFill>
                  </a:tcPr>
                </a:tc>
              </a:tr>
              <a:tr h="655320">
                <a:tc>
                  <a:txBody>
                    <a:bodyPr/>
                    <a:lstStyle/>
                    <a:p>
                      <a:pPr>
                        <a:defRPr sz="1100">
                          <a:solidFill>
                            <a:srgbClr val="475569"/>
                          </a:solidFill>
                        </a:defRPr>
                      </a:pPr>
                      <a:r>
                        <a:t>Autonomous Host Discovery</a:t>
                      </a:r>
                    </a:p>
                  </a:txBody>
                  <a:tcPr>
                    <a:solidFill>
                      <a:srgbClr val="FFFFFF"/>
                    </a:solidFill>
                  </a:tcPr>
                </a:tc>
                <a:tc>
                  <a:txBody>
                    <a:bodyPr/>
                    <a:lstStyle/>
                    <a:p>
                      <a:pPr>
                        <a:defRPr sz="1100">
                          <a:solidFill>
                            <a:srgbClr val="475569"/>
                          </a:solidFill>
                        </a:defRPr>
                      </a:pPr>
                      <a:r>
                        <a:t>High Complexity</a:t>
                      </a:r>
                    </a:p>
                  </a:txBody>
                  <a:tcPr>
                    <a:solidFill>
                      <a:srgbClr val="FFFFFF"/>
                    </a:solidFill>
                  </a:tcPr>
                </a:tc>
                <a:tc>
                  <a:txBody>
                    <a:bodyPr/>
                    <a:lstStyle/>
                    <a:p>
                      <a:pPr>
                        <a:defRPr sz="1100">
                          <a:solidFill>
                            <a:srgbClr val="475569"/>
                          </a:solidFill>
                        </a:defRPr>
                      </a:pPr>
                      <a:r>
                        <a:t>Reduces manual setup tasks by scanning network subnets for active agents.</a:t>
                      </a:r>
                    </a:p>
                  </a:txBody>
                  <a:tcPr>
                    <a:solidFill>
                      <a:srgbClr val="FFFFFF"/>
                    </a:solidFill>
                  </a:tcPr>
                </a:tc>
              </a:tr>
              <a:tr h="655320">
                <a:tc>
                  <a:txBody>
                    <a:bodyPr/>
                    <a:lstStyle/>
                    <a:p>
                      <a:pPr>
                        <a:defRPr sz="1100">
                          <a:solidFill>
                            <a:srgbClr val="475569"/>
                          </a:solidFill>
                        </a:defRPr>
                      </a:pPr>
                      <a:r>
                        <a:t>Production Scale Load Tests</a:t>
                      </a:r>
                    </a:p>
                  </a:txBody>
                  <a:tcPr>
                    <a:solidFill>
                      <a:srgbClr val="F1F5F9"/>
                    </a:solidFill>
                  </a:tcPr>
                </a:tc>
                <a:tc>
                  <a:txBody>
                    <a:bodyPr/>
                    <a:lstStyle/>
                    <a:p>
                      <a:pPr>
                        <a:defRPr sz="1100">
                          <a:solidFill>
                            <a:srgbClr val="475569"/>
                          </a:solidFill>
                        </a:defRPr>
                      </a:pPr>
                      <a:r>
                        <a:t>Medium Complexity</a:t>
                      </a:r>
                    </a:p>
                  </a:txBody>
                  <a:tcPr>
                    <a:solidFill>
                      <a:srgbClr val="F1F5F9"/>
                    </a:solidFill>
                  </a:tcPr>
                </a:tc>
                <a:tc>
                  <a:txBody>
                    <a:bodyPr/>
                    <a:lstStyle/>
                    <a:p>
                      <a:pPr>
                        <a:defRPr sz="1100">
                          <a:solidFill>
                            <a:srgbClr val="475569"/>
                          </a:solidFill>
                        </a:defRPr>
                      </a:pPr>
                      <a:r>
                        <a:t>Traces capacity limits and identifies message queue or database bottlenecks.</a:t>
                      </a:r>
                    </a:p>
                  </a:txBody>
                  <a:tcPr>
                    <a:solidFill>
                      <a:srgbClr val="F1F5F9"/>
                    </a:solidFill>
                  </a:tcPr>
                </a:tc>
              </a:tr>
            </a:tbl>
          </a:graphicData>
        </a:graphic>
      </p:graphicFrame>
      <p:sp>
        <p:nvSpPr>
          <p:cNvPr id="6" name="TextBox 5"/>
          <p:cNvSpPr txBox="1"/>
          <p:nvPr/>
        </p:nvSpPr>
        <p:spPr>
          <a:xfrm>
            <a:off x="822960" y="6217920"/>
            <a:ext cx="10545775" cy="365760"/>
          </a:xfrm>
          <a:prstGeom prst="rect">
            <a:avLst/>
          </a:prstGeom>
          <a:noFill/>
        </p:spPr>
        <p:txBody>
          <a:bodyPr wrap="none">
            <a:spAutoFit/>
          </a:bodyPr>
          <a:lstStyle/>
          <a:p>
            <a:pPr>
              <a:defRPr sz="1100">
                <a:solidFill>
                  <a:srgbClr val="475569"/>
                </a:solidFill>
                <a:latin typeface="Arial"/>
              </a:defRPr>
            </a:pPr>
            <a:r>
              <a:t>ISRO • ISTRAC LUCKNOW</a:t>
            </a:r>
          </a:p>
          <a:p>
            <a:pPr algn="r">
              <a:defRPr sz="1100">
                <a:solidFill>
                  <a:srgbClr val="475569"/>
                </a:solidFill>
                <a:latin typeface="Arial"/>
              </a:defRPr>
            </a:pPr>
            <a:r>
              <a:t>Slide 26 / 28</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457200"/>
            <a:ext cx="10545775" cy="914400"/>
          </a:xfrm>
          <a:prstGeom prst="rect">
            <a:avLst/>
          </a:prstGeom>
          <a:noFill/>
        </p:spPr>
        <p:txBody>
          <a:bodyPr wrap="square" lIns="0" tIns="0" rIns="0" bIns="0">
            <a:spAutoFit/>
          </a:bodyPr>
          <a:lstStyle/>
          <a:p>
            <a:pPr>
              <a:defRPr sz="3200" b="1">
                <a:solidFill>
                  <a:srgbClr val="0F172A"/>
                </a:solidFill>
                <a:latin typeface="Arial"/>
              </a:defRPr>
            </a:pPr>
            <a:r>
              <a:t>Core Internship Lessons Learned</a:t>
            </a:r>
          </a:p>
        </p:txBody>
      </p:sp>
      <p:sp>
        <p:nvSpPr>
          <p:cNvPr id="4" name="Rectangle 3"/>
          <p:cNvSpPr/>
          <p:nvPr/>
        </p:nvSpPr>
        <p:spPr>
          <a:xfrm>
            <a:off x="822960" y="1280160"/>
            <a:ext cx="10545775" cy="27432"/>
          </a:xfrm>
          <a:prstGeom prst="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22960" y="1737360"/>
            <a:ext cx="3383280" cy="3931920"/>
          </a:xfrm>
          <a:prstGeom prst="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300">
                <a:solidFill>
                  <a:srgbClr val="2563EB"/>
                </a:solidFill>
              </a:defRPr>
            </a:pPr>
            <a:r>
              <a:t>STRICT INTER-SERVICE DATA CONTRACTS</a:t>
            </a:r>
          </a:p>
          <a:p>
            <a:pPr>
              <a:spcBef>
                <a:spcPts val="1000"/>
              </a:spcBef>
              <a:defRPr sz="1200">
                <a:solidFill>
                  <a:srgbClr val="475569"/>
                </a:solidFill>
              </a:defRPr>
            </a:pPr>
            <a:r>
              <a:t>• Unambiguous payload schemas prevent processing crashes in async message brokers.</a:t>
            </a:r>
          </a:p>
          <a:p>
            <a:pPr>
              <a:spcBef>
                <a:spcPts val="1000"/>
              </a:spcBef>
              <a:defRPr sz="1200">
                <a:solidFill>
                  <a:srgbClr val="475569"/>
                </a:solidFill>
              </a:defRPr>
            </a:pPr>
            <a:r>
              <a:t>• System decoupling is critical to prevent cascading pipeline blockages.</a:t>
            </a:r>
          </a:p>
        </p:txBody>
      </p:sp>
      <p:sp>
        <p:nvSpPr>
          <p:cNvPr id="6" name="Rectangle 5"/>
          <p:cNvSpPr/>
          <p:nvPr/>
        </p:nvSpPr>
        <p:spPr>
          <a:xfrm>
            <a:off x="4389120" y="1737360"/>
            <a:ext cx="3383280" cy="3931920"/>
          </a:xfrm>
          <a:prstGeom prst="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300">
                <a:solidFill>
                  <a:srgbClr val="2563EB"/>
                </a:solidFill>
              </a:defRPr>
            </a:pPr>
            <a:r>
              <a:t>HYBRID STORAGE STRATEGY</a:t>
            </a:r>
          </a:p>
          <a:p>
            <a:pPr>
              <a:spcBef>
                <a:spcPts val="1000"/>
              </a:spcBef>
              <a:defRPr sz="1200">
                <a:solidFill>
                  <a:srgbClr val="475569"/>
                </a:solidFill>
              </a:defRPr>
            </a:pPr>
            <a:r>
              <a:t>• A single database pattern cannot optimally serve both structured states and high-volume metrics.</a:t>
            </a:r>
          </a:p>
          <a:p>
            <a:pPr>
              <a:spcBef>
                <a:spcPts val="1000"/>
              </a:spcBef>
              <a:defRPr sz="1200">
                <a:solidFill>
                  <a:srgbClr val="475569"/>
                </a:solidFill>
              </a:defRPr>
            </a:pPr>
            <a:r>
              <a:t>• Relational engines are best for states, while columnar stores excel at analytics.</a:t>
            </a:r>
          </a:p>
        </p:txBody>
      </p:sp>
      <p:sp>
        <p:nvSpPr>
          <p:cNvPr id="7" name="Rectangle 6"/>
          <p:cNvSpPr/>
          <p:nvPr/>
        </p:nvSpPr>
        <p:spPr>
          <a:xfrm>
            <a:off x="7955279" y="1737360"/>
            <a:ext cx="3383280" cy="3931920"/>
          </a:xfrm>
          <a:prstGeom prst="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300">
                <a:solidFill>
                  <a:srgbClr val="2563EB"/>
                </a:solidFill>
              </a:defRPr>
            </a:pPr>
            <a:r>
              <a:t>CROSS-PLATFORM COMPATIBILITY</a:t>
            </a:r>
          </a:p>
          <a:p>
            <a:pPr>
              <a:spcBef>
                <a:spcPts val="1000"/>
              </a:spcBef>
              <a:defRPr sz="1200">
                <a:solidFill>
                  <a:srgbClr val="475569"/>
                </a:solidFill>
              </a:defRPr>
            </a:pPr>
            <a:r>
              <a:t>• OS command patterns differ significantly, requiring modular agent designs.</a:t>
            </a:r>
          </a:p>
          <a:p>
            <a:pPr>
              <a:spcBef>
                <a:spcPts val="1000"/>
              </a:spcBef>
              <a:defRPr sz="1200">
                <a:solidFill>
                  <a:srgbClr val="475569"/>
                </a:solidFill>
              </a:defRPr>
            </a:pPr>
            <a:r>
              <a:t>• Thorough validation is key to discovering edge-case runtime failures.</a:t>
            </a:r>
          </a:p>
        </p:txBody>
      </p:sp>
      <p:sp>
        <p:nvSpPr>
          <p:cNvPr id="8" name="TextBox 7"/>
          <p:cNvSpPr txBox="1"/>
          <p:nvPr/>
        </p:nvSpPr>
        <p:spPr>
          <a:xfrm>
            <a:off x="822960" y="6217920"/>
            <a:ext cx="10545775" cy="365760"/>
          </a:xfrm>
          <a:prstGeom prst="rect">
            <a:avLst/>
          </a:prstGeom>
          <a:noFill/>
        </p:spPr>
        <p:txBody>
          <a:bodyPr wrap="none">
            <a:spAutoFit/>
          </a:bodyPr>
          <a:lstStyle/>
          <a:p>
            <a:pPr>
              <a:defRPr sz="1100">
                <a:solidFill>
                  <a:srgbClr val="475569"/>
                </a:solidFill>
                <a:latin typeface="Arial"/>
              </a:defRPr>
            </a:pPr>
            <a:r>
              <a:t>ISRO • ISTRAC LUCKNOW</a:t>
            </a:r>
          </a:p>
          <a:p>
            <a:pPr algn="r">
              <a:defRPr sz="1100">
                <a:solidFill>
                  <a:srgbClr val="475569"/>
                </a:solidFill>
                <a:latin typeface="Arial"/>
              </a:defRPr>
            </a:pPr>
            <a:r>
              <a:t>Slide 27 / 28</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F1D"/>
          </a:solidFill>
          <a:ln>
            <a:solidFill>
              <a:srgbClr val="0A0F1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645920"/>
            <a:ext cx="10362895" cy="3840480"/>
          </a:xfrm>
          <a:prstGeom prst="rect">
            <a:avLst/>
          </a:prstGeom>
          <a:noFill/>
        </p:spPr>
        <p:txBody>
          <a:bodyPr wrap="square">
            <a:spAutoFit/>
          </a:bodyPr>
          <a:lstStyle/>
          <a:p>
            <a:pPr algn="ctr">
              <a:defRPr sz="6400" b="1">
                <a:solidFill>
                  <a:srgbClr val="FFFFFF"/>
                </a:solidFill>
                <a:latin typeface="Arial"/>
              </a:defRPr>
            </a:pPr>
            <a:r>
              <a:t>Thank You!</a:t>
            </a:r>
          </a:p>
          <a:p>
            <a:pPr algn="ctr">
              <a:spcBef>
                <a:spcPts val="1400"/>
              </a:spcBef>
              <a:defRPr sz="2000">
                <a:solidFill>
                  <a:srgbClr val="94A3B8"/>
                </a:solidFill>
                <a:latin typeface="Arial"/>
              </a:defRPr>
            </a:pPr>
            <a:r>
              <a:t>Universal Real-Time Infrastructure Observability Platform</a:t>
            </a:r>
            <a:br/>
            <a:r>
              <a:t>Summer Internship Project — ISTRAC, Lucknow, ISRO</a:t>
            </a:r>
          </a:p>
          <a:p>
            <a:pPr algn="ctr">
              <a:spcBef>
                <a:spcPts val="2400"/>
              </a:spcBef>
              <a:defRPr sz="1600">
                <a:solidFill>
                  <a:srgbClr val="EA580C"/>
                </a:solidFill>
                <a:latin typeface="Arial"/>
              </a:defRPr>
            </a:pPr>
            <a:r>
              <a:t>Presenter: Dhruv Rathore  |  Project Guide: Shri Anant Madhukar</a:t>
            </a:r>
          </a:p>
          <a:p>
            <a:pPr algn="ctr">
              <a:spcBef>
                <a:spcPts val="3600"/>
              </a:spcBef>
              <a:defRPr sz="2800" b="1">
                <a:solidFill>
                  <a:srgbClr val="FFFFFF"/>
                </a:solidFill>
                <a:latin typeface="Arial"/>
              </a:defRPr>
            </a:pPr>
            <a:r>
              <a:t>Questions &amp; Discussions</a:t>
            </a:r>
          </a:p>
        </p:txBody>
      </p:sp>
      <p:sp>
        <p:nvSpPr>
          <p:cNvPr id="4" name="TextBox 3"/>
          <p:cNvSpPr txBox="1"/>
          <p:nvPr/>
        </p:nvSpPr>
        <p:spPr>
          <a:xfrm>
            <a:off x="822960" y="6217920"/>
            <a:ext cx="10545775" cy="365760"/>
          </a:xfrm>
          <a:prstGeom prst="rect">
            <a:avLst/>
          </a:prstGeom>
          <a:noFill/>
        </p:spPr>
        <p:txBody>
          <a:bodyPr wrap="none">
            <a:spAutoFit/>
          </a:bodyPr>
          <a:lstStyle/>
          <a:p>
            <a:pPr>
              <a:defRPr sz="1100">
                <a:solidFill>
                  <a:srgbClr val="94A3B8"/>
                </a:solidFill>
                <a:latin typeface="Arial"/>
              </a:defRPr>
            </a:pPr>
            <a:r>
              <a:t>ISRO • ISTRAC LUCKNOW</a:t>
            </a:r>
          </a:p>
          <a:p>
            <a:pPr algn="r">
              <a:defRPr sz="1100">
                <a:solidFill>
                  <a:srgbClr val="94A3B8"/>
                </a:solidFill>
                <a:latin typeface="Arial"/>
              </a:defRPr>
            </a:pPr>
            <a:r>
              <a:t>Slide 28 / 28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